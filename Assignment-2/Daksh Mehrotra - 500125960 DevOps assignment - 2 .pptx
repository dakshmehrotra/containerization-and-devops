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iter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454">
          <p15:clr>
            <a:srgbClr val="747775"/>
          </p15:clr>
        </p15:guide>
        <p15:guide id="4" pos="29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54"/>
        <p:guide pos="29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ite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398d537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e398d53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398d537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398d537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4c1f926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e4c1f92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e4ec422b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e4ec422b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4ec422b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e4ec422b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4ec422b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e4ec422b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e4ec422b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e4ec422b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4ec422b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e4ec422b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e4ec422b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e4ec422b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e4ec422b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e4ec422b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e4ec422b3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e4ec422b3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e4ec422b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e4ec422b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e4ec422b3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e4ec422b3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e4ec422b3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e4ec422b3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802" y="0"/>
            <a:ext cx="91381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744575"/>
            <a:ext cx="8374500" cy="15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DevOps Team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Collaborations</a:t>
            </a:r>
            <a:endParaRPr>
              <a:solidFill>
                <a:srgbClr val="6366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368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880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of silo busting, ownership and obsessive communication to make software teams delivery machines.</a:t>
            </a:r>
            <a:endParaRPr sz="1880">
              <a:solidFill>
                <a:srgbClr val="D9D9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58350" y="287750"/>
            <a:ext cx="956340" cy="339984"/>
          </a:xfrm>
          <a:prstGeom prst="flowChartTerminator">
            <a:avLst/>
          </a:prstGeom>
          <a:solidFill>
            <a:srgbClr val="12121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510050" y="287738"/>
            <a:ext cx="1029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#18</a:t>
            </a:r>
            <a:endParaRPr sz="1200">
              <a:solidFill>
                <a:srgbClr val="6366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568900" y="35689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521100"/>
            <a:ext cx="339975" cy="3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188" y="35815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651675" y="3409147"/>
            <a:ext cx="56604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Nakul Yadav 		- 500121882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Daksh Mehrotra	- 500125960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134700" y="31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>
                <a:solidFill>
                  <a:schemeClr val="lt1"/>
                </a:solidFill>
              </a:rPr>
              <a:t>What We'll Cover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5" y="963775"/>
            <a:ext cx="2036600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900" y="2973150"/>
            <a:ext cx="2080825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6825" y="2973150"/>
            <a:ext cx="2124000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425" y="963775"/>
            <a:ext cx="2080825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900" y="963775"/>
            <a:ext cx="2124000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250" y="963775"/>
            <a:ext cx="2080825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575" y="2973150"/>
            <a:ext cx="2124000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25" y="2973150"/>
            <a:ext cx="2036600" cy="1577025"/>
          </a:xfrm>
          <a:prstGeom prst="rect">
            <a:avLst/>
          </a:prstGeom>
          <a:noFill/>
          <a:ln cap="flat" cmpd="sng" w="9525">
            <a:solidFill>
              <a:srgbClr val="504A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574" y="1066621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8249" y="1058183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9974" y="1058171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9336" y="1066621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1661" y="3053721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2886" y="3053733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186" y="3062158"/>
            <a:ext cx="288525" cy="2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574" y="3062146"/>
            <a:ext cx="288525" cy="2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289157" y="1033092"/>
            <a:ext cx="2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1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641918" y="3028654"/>
            <a:ext cx="3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7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448660" y="3028617"/>
            <a:ext cx="3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6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6835187" y="3037067"/>
            <a:ext cx="3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8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89157" y="3028641"/>
            <a:ext cx="3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5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2406031" y="1041542"/>
            <a:ext cx="28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2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581155" y="1033091"/>
            <a:ext cx="28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3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756273" y="1033075"/>
            <a:ext cx="3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155FF"/>
                </a:solidFill>
              </a:rPr>
              <a:t>4</a:t>
            </a:r>
            <a:endParaRPr sz="1000">
              <a:solidFill>
                <a:srgbClr val="5155FF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34982" y="1371792"/>
            <a:ext cx="28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rgbClr val="D9D9D9"/>
                </a:solidFill>
              </a:rPr>
              <a:t>The Problem</a:t>
            </a:r>
            <a:endParaRPr b="1"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341257" y="1346717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What Are DevOps Teams?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D9D9D9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513657" y="1346717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Team Structure Models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660825" y="1339075"/>
            <a:ext cx="281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Communication &amp; Collaboration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746082" y="3342242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DORA Metrics + Q&amp;A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514732" y="3342242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Tools That Enable Collaboration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341252" y="3342250"/>
            <a:ext cx="235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Real-World: Netflix Case Study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34976" y="3342250"/>
            <a:ext cx="250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D9D9D9"/>
                </a:solidFill>
              </a:rPr>
              <a:t>Key Roles in a DevOps Team</a:t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9D9D9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27725" y="1609975"/>
            <a:ext cx="203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Dev vs Ops Silos — understanding the traditional divide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2" name="Google Shape;102;p14"/>
          <p:cNvSpPr txBox="1"/>
          <p:nvPr/>
        </p:nvSpPr>
        <p:spPr>
          <a:xfrm>
            <a:off x="2341250" y="1609975"/>
            <a:ext cx="20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Core definition and key principles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05725" y="3607700"/>
            <a:ext cx="2080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Who's in the room and what they do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99725" y="1608175"/>
            <a:ext cx="203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Practices that keep teams aligned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498900" y="1609975"/>
            <a:ext cx="212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Embedded, Platform, and Centre of Excellence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2341250" y="3607700"/>
            <a:ext cx="212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The gold standard of DevOps collaboration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CCCCCC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522075" y="3607700"/>
            <a:ext cx="21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The DevOps toolchain ecosystem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32400" y="36077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CCCCCC"/>
                </a:solidFill>
              </a:rPr>
              <a:t>Measuring DevOps performance</a:t>
            </a:r>
            <a:endParaRPr sz="10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>
                <a:solidFill>
                  <a:srgbClr val="D9D9D9"/>
                </a:solidFill>
              </a:rPr>
              <a:t>The Wall Between Dev &amp; Ops</a:t>
            </a:r>
            <a:endParaRPr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425" y="3999225"/>
            <a:ext cx="8167902" cy="10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240763"/>
            <a:ext cx="2689925" cy="2661975"/>
          </a:xfrm>
          <a:prstGeom prst="rect">
            <a:avLst/>
          </a:prstGeom>
          <a:noFill/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8600" y="1240763"/>
            <a:ext cx="2761321" cy="2732626"/>
          </a:xfrm>
          <a:prstGeom prst="rect">
            <a:avLst/>
          </a:prstGeom>
          <a:noFill/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15"/>
          <p:cNvSpPr txBox="1"/>
          <p:nvPr/>
        </p:nvSpPr>
        <p:spPr>
          <a:xfrm>
            <a:off x="602000" y="1778575"/>
            <a:ext cx="28080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"It works on my machine!"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Ship features as fast as possible.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Don't care about infrastructure.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Blame Ops when prod breaks.</a:t>
            </a:r>
            <a:endParaRPr sz="1250">
              <a:solidFill>
                <a:srgbClr val="B7B7B7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478725" y="1817450"/>
            <a:ext cx="28812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Stability over everything.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Manual, careful deployments.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Don't understand the code.</a:t>
            </a:r>
            <a:endParaRPr sz="1250">
              <a:solidFill>
                <a:srgbClr val="B7B7B7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50"/>
              <a:buChar char="●"/>
            </a:pPr>
            <a:r>
              <a:rPr lang="en-GB" sz="1250">
                <a:solidFill>
                  <a:srgbClr val="B7B7B7"/>
                </a:solidFill>
              </a:rPr>
              <a:t>Blame Dev for unstable releases.</a:t>
            </a:r>
            <a:endParaRPr sz="12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B7B7B7"/>
              </a:solidFill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9111" y="1240763"/>
            <a:ext cx="650313" cy="26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179050" y="1992675"/>
            <a:ext cx="6504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FEFEF"/>
                </a:solidFill>
              </a:rPr>
              <a:t>The Wall</a:t>
            </a:r>
            <a:endParaRPr sz="1800">
              <a:solidFill>
                <a:srgbClr val="EFEFEF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02000" y="4425325"/>
            <a:ext cx="468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366F1"/>
                </a:solidFill>
              </a:rPr>
              <a:t>This is exactly the problem DevOps was born to solve.</a:t>
            </a:r>
            <a:endParaRPr>
              <a:solidFill>
                <a:srgbClr val="6366F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366F1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02000" y="4125800"/>
            <a:ext cx="6876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04A3E"/>
                </a:solidFill>
              </a:rPr>
              <a:t>Slow releases.</a:t>
            </a:r>
            <a:r>
              <a:rPr lang="en-GB"/>
              <a:t> </a:t>
            </a:r>
            <a:r>
              <a:rPr lang="en-GB">
                <a:solidFill>
                  <a:srgbClr val="F56029"/>
                </a:solidFill>
              </a:rPr>
              <a:t>Frequent outages.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Blame culture.</a:t>
            </a:r>
            <a:r>
              <a:rPr lang="en-GB"/>
              <a:t> </a:t>
            </a:r>
            <a:r>
              <a:rPr lang="en-GB">
                <a:solidFill>
                  <a:srgbClr val="B7B7B7"/>
                </a:solidFill>
              </a:rPr>
              <a:t>Low morale.</a:t>
            </a:r>
            <a:r>
              <a:rPr lang="en-GB"/>
              <a:t> </a:t>
            </a:r>
            <a:r>
              <a:rPr lang="en-GB">
                <a:solidFill>
                  <a:srgbClr val="F04A3E"/>
                </a:solidFill>
              </a:rPr>
              <a:t>Lost revenue.</a:t>
            </a:r>
            <a:endParaRPr>
              <a:solidFill>
                <a:srgbClr val="F04A3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181175" y="208800"/>
            <a:ext cx="85206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145">
                <a:solidFill>
                  <a:srgbClr val="EBEBEB"/>
                </a:solidFill>
              </a:rPr>
              <a:t>DevOps Teams — Defined</a:t>
            </a:r>
            <a:endParaRPr b="1" sz="2145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28" name="Google Shape;128;p16"/>
          <p:cNvSpPr/>
          <p:nvPr/>
        </p:nvSpPr>
        <p:spPr>
          <a:xfrm>
            <a:off x="256950" y="760300"/>
            <a:ext cx="8660700" cy="1232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EBEBEB"/>
                </a:solidFill>
              </a:rPr>
              <a:t>A DevOps team is an</a:t>
            </a:r>
            <a:r>
              <a:rPr lang="en-GB" sz="1150">
                <a:solidFill>
                  <a:srgbClr val="A855F7"/>
                </a:solidFill>
              </a:rPr>
              <a:t> </a:t>
            </a:r>
            <a:r>
              <a:rPr lang="en-GB" sz="1150">
                <a:solidFill>
                  <a:srgbClr val="6366F1"/>
                </a:solidFill>
              </a:rPr>
              <a:t>interdisciplinary team</a:t>
            </a:r>
            <a:r>
              <a:rPr lang="en-GB" sz="1150">
                <a:solidFill>
                  <a:srgbClr val="EBEBEB"/>
                </a:solidFill>
              </a:rPr>
              <a:t> with Development, Operations, QA and Security all having</a:t>
            </a:r>
            <a:r>
              <a:rPr lang="en-GB" sz="1150">
                <a:solidFill>
                  <a:srgbClr val="6366F1"/>
                </a:solidFill>
              </a:rPr>
              <a:t> objectives, tools</a:t>
            </a:r>
            <a:r>
              <a:rPr lang="en-GB" sz="1150">
                <a:solidFill>
                  <a:srgbClr val="EBEBEB"/>
                </a:solidFill>
              </a:rPr>
              <a:t> and, above all, </a:t>
            </a:r>
            <a:r>
              <a:rPr lang="en-GB" sz="1150">
                <a:solidFill>
                  <a:srgbClr val="6366F1"/>
                </a:solidFill>
              </a:rPr>
              <a:t>ownership </a:t>
            </a:r>
            <a:r>
              <a:rPr lang="en-GB" sz="1150">
                <a:solidFill>
                  <a:srgbClr val="EBEBEB"/>
                </a:solidFill>
              </a:rPr>
              <a:t>of the entire software lifecycle.</a:t>
            </a:r>
            <a:endParaRPr sz="1150">
              <a:solidFill>
                <a:srgbClr val="EBEBEB"/>
              </a:solidFill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34501" y="2196975"/>
            <a:ext cx="1903800" cy="1553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BEBEB"/>
                </a:solidFill>
              </a:rPr>
              <a:t>Shared Ownership</a:t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Everyone owns the product — from first line of code to live production.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56950" y="760300"/>
            <a:ext cx="38100" cy="1232821"/>
          </a:xfrm>
          <a:custGeom>
            <a:rect b="b" l="l" r="r" t="t"/>
            <a:pathLst>
              <a:path extrusionOk="0" h="1638300" w="38100">
                <a:moveTo>
                  <a:pt x="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</p:sp>
      <p:sp>
        <p:nvSpPr>
          <p:cNvPr id="131" name="Google Shape;131;p16"/>
          <p:cNvSpPr/>
          <p:nvPr/>
        </p:nvSpPr>
        <p:spPr>
          <a:xfrm>
            <a:off x="359538" y="815225"/>
            <a:ext cx="200025" cy="228600"/>
          </a:xfrm>
          <a:custGeom>
            <a:rect b="b" l="l" r="r" t="t"/>
            <a:pathLst>
              <a:path extrusionOk="0" h="228600" w="200025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11700" y="1631775"/>
            <a:ext cx="2248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050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The DevOps Handbook, Kim et al.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61800" y="4078687"/>
            <a:ext cx="8651010" cy="766429"/>
          </a:xfrm>
          <a:custGeom>
            <a:rect b="b" l="l" r="r" t="t"/>
            <a:pathLst>
              <a:path extrusionOk="0" h="1152525" w="11420475">
                <a:moveTo>
                  <a:pt x="114296" y="0"/>
                </a:moveTo>
                <a:lnTo>
                  <a:pt x="11306179" y="0"/>
                </a:lnTo>
                <a:cubicBezTo>
                  <a:pt x="11369303" y="0"/>
                  <a:pt x="11420475" y="51172"/>
                  <a:pt x="11420475" y="114296"/>
                </a:cubicBezTo>
                <a:lnTo>
                  <a:pt x="11420475" y="1038229"/>
                </a:lnTo>
                <a:cubicBezTo>
                  <a:pt x="11420475" y="1101353"/>
                  <a:pt x="11369303" y="1152525"/>
                  <a:pt x="113061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10196"/>
                </a:srgbClr>
              </a:gs>
            </a:gsLst>
            <a:lin ang="0" scaled="0"/>
          </a:gradFill>
          <a:ln cap="flat" cmpd="sng" w="127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4" name="Google Shape;134;p16"/>
          <p:cNvSpPr/>
          <p:nvPr/>
        </p:nvSpPr>
        <p:spPr>
          <a:xfrm>
            <a:off x="334500" y="4157100"/>
            <a:ext cx="609600" cy="609600"/>
          </a:xfrm>
          <a:custGeom>
            <a:rect b="b" l="l" r="r" t="t"/>
            <a:pathLst>
              <a:path extrusionOk="0"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366F1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5" name="Google Shape;135;p16"/>
          <p:cNvSpPr/>
          <p:nvPr/>
        </p:nvSpPr>
        <p:spPr>
          <a:xfrm>
            <a:off x="1093175" y="4175575"/>
            <a:ext cx="24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208×</a:t>
            </a:r>
            <a:endParaRPr b="0" i="0" sz="400" u="none" cap="none" strike="noStrike"/>
          </a:p>
        </p:txBody>
      </p:sp>
      <p:sp>
        <p:nvSpPr>
          <p:cNvPr id="136" name="Google Shape;136;p16"/>
          <p:cNvSpPr/>
          <p:nvPr/>
        </p:nvSpPr>
        <p:spPr>
          <a:xfrm>
            <a:off x="1093175" y="4499425"/>
            <a:ext cx="230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More frequent deployments</a:t>
            </a:r>
            <a:endParaRPr b="0" i="0" sz="120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5713851" y="4227800"/>
            <a:ext cx="311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Teams practicing DevOps vs. traditional teams</a:t>
            </a:r>
            <a:endParaRPr b="0" i="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6067074" y="449942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9" name="Google Shape;139;p16"/>
          <p:cNvSpPr/>
          <p:nvPr/>
        </p:nvSpPr>
        <p:spPr>
          <a:xfrm>
            <a:off x="5923189" y="4470850"/>
            <a:ext cx="2209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DORA State of DevOps Report, 2023</a:t>
            </a:r>
            <a:endParaRPr b="0" i="0" sz="120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2513626" y="2200325"/>
            <a:ext cx="1903800" cy="1553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EBEBEB"/>
                </a:solidFill>
              </a:rPr>
              <a:t>Radical Transparency</a:t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rgbClr val="7C7C7C"/>
                </a:solidFill>
              </a:rPr>
              <a:t>No information hoarding. Decisions, failures, and plans are visible to all.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773925" y="2196975"/>
            <a:ext cx="1903800" cy="1553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EBEBEB"/>
                </a:solidFill>
              </a:rPr>
              <a:t>Data-Driven Culture</a:t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rgbClr val="7C7C7C"/>
                </a:solidFill>
              </a:rPr>
              <a:t>Metrics and monitoring guide every decision, not gut feelings.</a:t>
            </a:r>
            <a:endParaRPr b="1" sz="1000">
              <a:solidFill>
                <a:srgbClr val="EBEBEB"/>
              </a:solidFill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669025" y="2196975"/>
            <a:ext cx="1903800" cy="1553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EBEBEB"/>
                </a:solidFill>
              </a:rPr>
              <a:t>Speed Without Chaos</a:t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rgbClr val="7C7C7C"/>
                </a:solidFill>
              </a:rPr>
              <a:t>Ship fast AND stay stable — not a tradeoff, a design principle.</a:t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BEBEB"/>
              </a:solidFill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99475" y="2282225"/>
            <a:ext cx="321183" cy="321183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9905" y="2362653"/>
            <a:ext cx="160592" cy="160592"/>
          </a:xfrm>
          <a:custGeom>
            <a:rect b="b" l="l" r="r" t="t"/>
            <a:pathLst>
              <a:path extrusionOk="0" h="228600" w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2664088" y="2282100"/>
            <a:ext cx="321183" cy="321183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2734464" y="2362528"/>
            <a:ext cx="180665" cy="160592"/>
          </a:xfrm>
          <a:custGeom>
            <a:rect b="b" l="l" r="r" t="t"/>
            <a:pathLst>
              <a:path extrusionOk="0" h="228600" w="257175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4806013" y="2282363"/>
            <a:ext cx="321183" cy="321183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4866576" y="2328650"/>
            <a:ext cx="200025" cy="228600"/>
          </a:xfrm>
          <a:custGeom>
            <a:rect b="b" l="l" r="r" t="t"/>
            <a:pathLst>
              <a:path extrusionOk="0" h="228600" w="200025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6921964" y="2291022"/>
            <a:ext cx="321183" cy="321183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7002394" y="2371450"/>
            <a:ext cx="160591" cy="160592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  <p:txBody>
          <a:bodyPr anchorCtr="0" anchor="ctr" bIns="64325" lIns="64325" spcFirstLastPara="1" rIns="64325" wrap="square" tIns="6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50125" y="4366650"/>
            <a:ext cx="160734" cy="2286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234900" y="236150"/>
            <a:ext cx="85206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How DevOps Teams Are Structured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234900" y="827413"/>
            <a:ext cx="2776800" cy="3308400"/>
          </a:xfrm>
          <a:prstGeom prst="rect">
            <a:avLst/>
          </a:prstGeom>
          <a:solidFill>
            <a:srgbClr val="262626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2F69F3"/>
                </a:solidFill>
              </a:rPr>
              <a:t>Embedded</a:t>
            </a:r>
            <a:br>
              <a:rPr b="1" lang="en-GB" sz="1150">
                <a:solidFill>
                  <a:srgbClr val="2F69F3"/>
                </a:solidFill>
              </a:rPr>
            </a:br>
            <a:r>
              <a:rPr b="1" lang="en-GB" sz="1150">
                <a:solidFill>
                  <a:srgbClr val="2F69F3"/>
                </a:solidFill>
              </a:rPr>
              <a:t>	</a:t>
            </a:r>
            <a:r>
              <a:rPr lang="en-GB" sz="700">
                <a:solidFill>
                  <a:srgbClr val="7C7C7C"/>
                </a:solidFill>
              </a:rPr>
              <a:t>Model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EBEBEB"/>
                </a:solidFill>
              </a:rPr>
              <a:t>Ops engineers sit inside each dev team, working side-by-side daily.</a:t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✔️ Highest alignment, fastest feedback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❌ Hard to scale across large orgs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Used by: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Spotify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Early-stage startup</a:t>
            </a:r>
            <a:endParaRPr b="1" sz="11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2F69F3"/>
              </a:solidFill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145200" y="836088"/>
            <a:ext cx="2776800" cy="3299700"/>
          </a:xfrm>
          <a:prstGeom prst="rect">
            <a:avLst/>
          </a:prstGeom>
          <a:solidFill>
            <a:srgbClr val="262626"/>
          </a:solidFill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1CAC95"/>
                </a:solidFill>
              </a:rPr>
              <a:t>Shared Platform</a:t>
            </a:r>
            <a:endParaRPr b="1" sz="1150">
              <a:solidFill>
                <a:srgbClr val="1CAC95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Model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EBEBEB"/>
                </a:solidFill>
              </a:rPr>
              <a:t>A central team builds tools &amp; infra; dev teams consume them like a product.</a:t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✔️ Dev teams stay autonomous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❌ Scales well in large organizations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Used by:</a:t>
            </a:r>
            <a:endParaRPr b="1" sz="11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Netflix , Google, Amazon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EBEBEB"/>
              </a:solidFill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55500" y="836125"/>
            <a:ext cx="2776800" cy="3299700"/>
          </a:xfrm>
          <a:prstGeom prst="rect">
            <a:avLst/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9533F5"/>
                </a:solidFill>
              </a:rPr>
              <a:t>Centre of Excellence</a:t>
            </a:r>
            <a:endParaRPr b="1" sz="1150">
              <a:solidFill>
                <a:srgbClr val="9533F5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Model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EBEBEB"/>
                </a:solidFill>
              </a:rPr>
              <a:t>A small group of DevOps experts coaches and enables the rest of the org.</a:t>
            </a:r>
            <a:endParaRPr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✔️ </a:t>
            </a:r>
            <a:r>
              <a:rPr lang="en-GB" sz="750">
                <a:solidFill>
                  <a:srgbClr val="7C7C7C"/>
                </a:solidFill>
              </a:rPr>
              <a:t>Best for enterprises mid-transition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❌ </a:t>
            </a:r>
            <a:r>
              <a:rPr lang="en-GB" sz="750">
                <a:solidFill>
                  <a:srgbClr val="7C7C7C"/>
                </a:solidFill>
              </a:rPr>
              <a:t>Risk: can become a bottleneck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Used by: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IBM, Large banks, Government IT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20488" y="882226"/>
            <a:ext cx="348615" cy="362331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15085" y="957510"/>
            <a:ext cx="2316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20" u="none" cap="none" strike="noStrike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408" u="none" cap="none" strike="noStrike"/>
          </a:p>
        </p:txBody>
      </p:sp>
      <p:sp>
        <p:nvSpPr>
          <p:cNvPr id="162" name="Google Shape;162;p17"/>
          <p:cNvSpPr/>
          <p:nvPr/>
        </p:nvSpPr>
        <p:spPr>
          <a:xfrm>
            <a:off x="3265461" y="882226"/>
            <a:ext cx="348615" cy="362331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3346933" y="957510"/>
            <a:ext cx="260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20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408" u="none" cap="none" strike="noStrike"/>
          </a:p>
        </p:txBody>
      </p:sp>
      <p:sp>
        <p:nvSpPr>
          <p:cNvPr id="164" name="Google Shape;164;p17"/>
          <p:cNvSpPr/>
          <p:nvPr/>
        </p:nvSpPr>
        <p:spPr>
          <a:xfrm>
            <a:off x="6167470" y="882226"/>
            <a:ext cx="348615" cy="362331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248263" y="957510"/>
            <a:ext cx="260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20" u="none" cap="none" strike="noStrike">
                <a:solidFill>
                  <a:srgbClr val="A855F7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408" u="none" cap="none" strike="noStrike"/>
          </a:p>
        </p:txBody>
      </p:sp>
      <p:cxnSp>
        <p:nvCxnSpPr>
          <p:cNvPr id="166" name="Google Shape;166;p17"/>
          <p:cNvCxnSpPr/>
          <p:nvPr/>
        </p:nvCxnSpPr>
        <p:spPr>
          <a:xfrm>
            <a:off x="303275" y="3501375"/>
            <a:ext cx="263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3215400" y="3550375"/>
            <a:ext cx="263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7"/>
          <p:cNvCxnSpPr/>
          <p:nvPr/>
        </p:nvCxnSpPr>
        <p:spPr>
          <a:xfrm>
            <a:off x="6125700" y="3608000"/>
            <a:ext cx="263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7"/>
          <p:cNvSpPr/>
          <p:nvPr/>
        </p:nvSpPr>
        <p:spPr>
          <a:xfrm>
            <a:off x="227575" y="4273600"/>
            <a:ext cx="8651010" cy="667583"/>
          </a:xfrm>
          <a:custGeom>
            <a:rect b="b" l="l" r="r" t="t"/>
            <a:pathLst>
              <a:path extrusionOk="0" h="847725" w="1142047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10196"/>
                </a:srgbClr>
              </a:gs>
            </a:gsLst>
            <a:lin ang="0" scaled="0"/>
          </a:gradFill>
          <a:ln cap="flat" cmpd="sng" w="1000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346517" y="4427348"/>
            <a:ext cx="346329" cy="360045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30199"/>
            </a:srgbClr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465459" y="4532347"/>
            <a:ext cx="108228" cy="150019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07867" y="4397349"/>
            <a:ext cx="80085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3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The majority of mature organizations</a:t>
            </a:r>
            <a:r>
              <a:rPr lang="en-GB" sz="1063">
                <a:solidFill>
                  <a:schemeClr val="lt1"/>
                </a:solidFill>
                <a:latin typeface="Liter"/>
                <a:ea typeface="Liter"/>
                <a:cs typeface="Liter"/>
                <a:sym typeface="Liter"/>
              </a:rPr>
              <a:t> are a mix of the three. No single model is correct and the most suitable structure is determined by the team size, maturity and organizational environment.</a:t>
            </a:r>
            <a:endParaRPr b="0" i="0" sz="126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268800" y="285625"/>
            <a:ext cx="86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How DevOps Teams Actually Work Together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63925" y="3390675"/>
            <a:ext cx="2584800" cy="11016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515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504AED"/>
                </a:solidFill>
              </a:rPr>
              <a:t>         Continuous Integration</a:t>
            </a:r>
            <a:endParaRPr b="1" sz="90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Each codecommit is followed by an automatic build + test. No manual handoffs</a:t>
            </a:r>
            <a:endParaRPr sz="3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504AED"/>
              </a:solidFill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6209550" y="3390675"/>
            <a:ext cx="2493900" cy="11016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504AED"/>
                </a:solidFill>
              </a:rPr>
              <a:t>         </a:t>
            </a:r>
            <a:r>
              <a:rPr b="1" lang="en-GB" sz="900">
                <a:solidFill>
                  <a:srgbClr val="9533F5"/>
                </a:solidFill>
              </a:rPr>
              <a:t>Continuous Feedback</a:t>
            </a:r>
            <a:endParaRPr b="1" sz="9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Track data flows to developers - they observe their own code at work.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9533F5"/>
              </a:solidFill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214275" y="3390675"/>
            <a:ext cx="2729700" cy="11016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504AED"/>
                </a:solidFill>
              </a:rPr>
              <a:t>         </a:t>
            </a:r>
            <a:r>
              <a:rPr b="1" lang="en-GB" sz="900">
                <a:solidFill>
                  <a:srgbClr val="1CAC95"/>
                </a:solidFill>
              </a:rPr>
              <a:t>Continuous Delivery</a:t>
            </a:r>
            <a:endParaRPr b="1" sz="9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The code is never out of deployable state. The decision of release is not a technical one but a business decision.</a:t>
            </a:r>
            <a:endParaRPr sz="3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1CAC95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03275" y="756800"/>
            <a:ext cx="8451152" cy="2303788"/>
          </a:xfrm>
          <a:custGeom>
            <a:rect b="b" l="l" r="r" t="t"/>
            <a:pathLst>
              <a:path extrusionOk="0" h="3400425" w="11420475">
                <a:moveTo>
                  <a:pt x="114288" y="0"/>
                </a:moveTo>
                <a:lnTo>
                  <a:pt x="11306187" y="0"/>
                </a:lnTo>
                <a:cubicBezTo>
                  <a:pt x="11369306" y="0"/>
                  <a:pt x="11420475" y="51169"/>
                  <a:pt x="11420475" y="114288"/>
                </a:cubicBezTo>
                <a:lnTo>
                  <a:pt x="11420475" y="3286137"/>
                </a:lnTo>
                <a:cubicBezTo>
                  <a:pt x="11420475" y="3349256"/>
                  <a:pt x="11369306" y="3400425"/>
                  <a:pt x="11306187" y="3400425"/>
                </a:cubicBezTo>
                <a:lnTo>
                  <a:pt x="114288" y="3400425"/>
                </a:lnTo>
                <a:cubicBezTo>
                  <a:pt x="51169" y="3400425"/>
                  <a:pt x="0" y="3349256"/>
                  <a:pt x="0" y="3286137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2626"/>
          </a:solidFill>
          <a:ln cap="flat" cmpd="sng" w="817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10441" y="990005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63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670587" y="1118623"/>
            <a:ext cx="102156" cy="122396"/>
          </a:xfrm>
          <a:custGeom>
            <a:rect b="b" l="l" r="r" t="t"/>
            <a:pathLst>
              <a:path extrusionOk="0" h="190500" w="142875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1747310" y="1210492"/>
            <a:ext cx="122587" cy="110157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2680924" y="990005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cap="flat" cmpd="sng" w="163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2815514" y="1118623"/>
            <a:ext cx="153234" cy="122396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3917793" y="1210492"/>
            <a:ext cx="122587" cy="110157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851407" y="990005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 cap="flat" cmpd="sng" w="163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4977479" y="1118623"/>
            <a:ext cx="170259" cy="122396"/>
          </a:xfrm>
          <a:custGeom>
            <a:rect b="b" l="l" r="r" t="t"/>
            <a:pathLst>
              <a:path extrusionOk="0" h="190500" w="238125">
                <a:moveTo>
                  <a:pt x="91864" y="6809"/>
                </a:moveTo>
                <a:lnTo>
                  <a:pt x="100831" y="1414"/>
                </a:lnTo>
                <a:cubicBezTo>
                  <a:pt x="108868" y="-3423"/>
                  <a:pt x="118058" y="-5953"/>
                  <a:pt x="127434" y="-5953"/>
                </a:cubicBezTo>
                <a:cubicBezTo>
                  <a:pt x="141126" y="-5953"/>
                  <a:pt x="154298" y="-521"/>
                  <a:pt x="163971" y="9190"/>
                </a:cubicBezTo>
                <a:lnTo>
                  <a:pt x="187747" y="32965"/>
                </a:lnTo>
                <a:cubicBezTo>
                  <a:pt x="193328" y="38546"/>
                  <a:pt x="196453" y="46137"/>
                  <a:pt x="196453" y="54025"/>
                </a:cubicBezTo>
                <a:lnTo>
                  <a:pt x="196453" y="65522"/>
                </a:lnTo>
                <a:lnTo>
                  <a:pt x="203783" y="72851"/>
                </a:lnTo>
                <a:lnTo>
                  <a:pt x="203783" y="72851"/>
                </a:lnTo>
                <a:cubicBezTo>
                  <a:pt x="209587" y="67047"/>
                  <a:pt x="219001" y="67047"/>
                  <a:pt x="224842" y="72851"/>
                </a:cubicBezTo>
                <a:cubicBezTo>
                  <a:pt x="230684" y="78656"/>
                  <a:pt x="230646" y="88069"/>
                  <a:pt x="224842" y="93911"/>
                </a:cubicBezTo>
                <a:lnTo>
                  <a:pt x="201030" y="117723"/>
                </a:lnTo>
                <a:cubicBezTo>
                  <a:pt x="195225" y="123527"/>
                  <a:pt x="185812" y="123527"/>
                  <a:pt x="179970" y="117723"/>
                </a:cubicBezTo>
                <a:cubicBezTo>
                  <a:pt x="174129" y="111919"/>
                  <a:pt x="174166" y="102505"/>
                  <a:pt x="179970" y="96664"/>
                </a:cubicBezTo>
                <a:lnTo>
                  <a:pt x="172641" y="89297"/>
                </a:lnTo>
                <a:lnTo>
                  <a:pt x="161144" y="89297"/>
                </a:lnTo>
                <a:cubicBezTo>
                  <a:pt x="153256" y="89297"/>
                  <a:pt x="145666" y="86171"/>
                  <a:pt x="140084" y="80590"/>
                </a:cubicBezTo>
                <a:lnTo>
                  <a:pt x="121816" y="62322"/>
                </a:lnTo>
                <a:cubicBezTo>
                  <a:pt x="116235" y="56741"/>
                  <a:pt x="113109" y="49150"/>
                  <a:pt x="113109" y="41263"/>
                </a:cubicBezTo>
                <a:lnTo>
                  <a:pt x="113109" y="36537"/>
                </a:lnTo>
                <a:cubicBezTo>
                  <a:pt x="113109" y="32370"/>
                  <a:pt x="110914" y="28463"/>
                  <a:pt x="107342" y="26343"/>
                </a:cubicBezTo>
                <a:lnTo>
                  <a:pt x="91864" y="17041"/>
                </a:lnTo>
                <a:cubicBezTo>
                  <a:pt x="87995" y="14734"/>
                  <a:pt x="87995" y="9153"/>
                  <a:pt x="91864" y="6846"/>
                </a:cubicBezTo>
                <a:close/>
                <a:moveTo>
                  <a:pt x="18864" y="149833"/>
                </a:moveTo>
                <a:lnTo>
                  <a:pt x="101501" y="67196"/>
                </a:lnTo>
                <a:lnTo>
                  <a:pt x="135173" y="100868"/>
                </a:lnTo>
                <a:lnTo>
                  <a:pt x="52536" y="183505"/>
                </a:lnTo>
                <a:cubicBezTo>
                  <a:pt x="43235" y="192807"/>
                  <a:pt x="28166" y="192807"/>
                  <a:pt x="18864" y="183505"/>
                </a:cubicBezTo>
                <a:cubicBezTo>
                  <a:pt x="9562" y="174203"/>
                  <a:pt x="9562" y="159134"/>
                  <a:pt x="18864" y="149833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6088276" y="1210492"/>
            <a:ext cx="122587" cy="110157"/>
          </a:xfrm>
          <a:custGeom>
            <a:rect b="b" l="l" r="r" t="t"/>
            <a:pathLst>
              <a:path extrusionOk="0" h="171450" w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7021890" y="990005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 cap="flat" cmpd="sng" w="163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164999" y="1118623"/>
            <a:ext cx="136207" cy="122396"/>
          </a:xfrm>
          <a:custGeom>
            <a:rect b="b" l="l" r="r" t="t"/>
            <a:pathLst>
              <a:path extrusionOk="0" h="190500" w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A855F7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8274091" y="1210492"/>
            <a:ext cx="91940" cy="110157"/>
          </a:xfrm>
          <a:custGeom>
            <a:rect b="b" l="l" r="r" t="t"/>
            <a:pathLst>
              <a:path extrusionOk="0" h="171450" w="128588">
                <a:moveTo>
                  <a:pt x="56726" y="168302"/>
                </a:moveTo>
                <a:cubicBezTo>
                  <a:pt x="60912" y="172488"/>
                  <a:pt x="67709" y="172488"/>
                  <a:pt x="71895" y="168302"/>
                </a:cubicBezTo>
                <a:lnTo>
                  <a:pt x="125473" y="114724"/>
                </a:lnTo>
                <a:cubicBezTo>
                  <a:pt x="129659" y="110538"/>
                  <a:pt x="129659" y="103741"/>
                  <a:pt x="125473" y="99555"/>
                </a:cubicBezTo>
                <a:cubicBezTo>
                  <a:pt x="121287" y="95369"/>
                  <a:pt x="114490" y="95369"/>
                  <a:pt x="110304" y="99555"/>
                </a:cubicBezTo>
                <a:lnTo>
                  <a:pt x="75009" y="134849"/>
                </a:lnTo>
                <a:lnTo>
                  <a:pt x="75009" y="10716"/>
                </a:lnTo>
                <a:cubicBezTo>
                  <a:pt x="75009" y="4789"/>
                  <a:pt x="70221" y="0"/>
                  <a:pt x="64294" y="0"/>
                </a:cubicBezTo>
                <a:cubicBezTo>
                  <a:pt x="58367" y="0"/>
                  <a:pt x="53578" y="4789"/>
                  <a:pt x="53578" y="10716"/>
                </a:cubicBezTo>
                <a:lnTo>
                  <a:pt x="53578" y="134849"/>
                </a:lnTo>
                <a:lnTo>
                  <a:pt x="18284" y="99555"/>
                </a:lnTo>
                <a:cubicBezTo>
                  <a:pt x="14098" y="95369"/>
                  <a:pt x="7300" y="95369"/>
                  <a:pt x="3114" y="99555"/>
                </a:cubicBezTo>
                <a:cubicBezTo>
                  <a:pt x="-1072" y="103741"/>
                  <a:pt x="-1072" y="110538"/>
                  <a:pt x="3114" y="114724"/>
                </a:cubicBezTo>
                <a:lnTo>
                  <a:pt x="56692" y="168302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728512" y="1553473"/>
            <a:ext cx="7436930" cy="501825"/>
          </a:xfrm>
          <a:custGeom>
            <a:rect b="b" l="l" r="r" t="t"/>
            <a:pathLst>
              <a:path extrusionOk="0" h="781050" w="10401300">
                <a:moveTo>
                  <a:pt x="114299" y="0"/>
                </a:moveTo>
                <a:lnTo>
                  <a:pt x="10287001" y="0"/>
                </a:lnTo>
                <a:cubicBezTo>
                  <a:pt x="10350127" y="0"/>
                  <a:pt x="10401300" y="51173"/>
                  <a:pt x="10401300" y="114299"/>
                </a:cubicBezTo>
                <a:lnTo>
                  <a:pt x="10401300" y="666751"/>
                </a:lnTo>
                <a:cubicBezTo>
                  <a:pt x="10401300" y="729877"/>
                  <a:pt x="10350127" y="781050"/>
                  <a:pt x="10287001" y="781050"/>
                </a:cubicBezTo>
                <a:lnTo>
                  <a:pt x="114299" y="781050"/>
                </a:lnTo>
                <a:cubicBezTo>
                  <a:pt x="51173" y="781050"/>
                  <a:pt x="0" y="729877"/>
                  <a:pt x="0" y="6667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30196"/>
                </a:srgbClr>
              </a:gs>
              <a:gs pos="50000">
                <a:srgbClr val="6366F1">
                  <a:alpha val="20000"/>
                </a:srgbClr>
              </a:gs>
              <a:gs pos="100000">
                <a:srgbClr val="6366F1">
                  <a:alpha val="30196"/>
                </a:srgbClr>
              </a:gs>
            </a:gsLst>
            <a:lin ang="0" scaled="0"/>
          </a:gradFill>
          <a:ln cap="flat" cmpd="sng" w="163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3438421" y="1731088"/>
            <a:ext cx="204311" cy="146876"/>
          </a:xfrm>
          <a:custGeom>
            <a:rect b="b" l="l" r="r" t="t"/>
            <a:pathLst>
              <a:path extrusionOk="0" h="228600" w="28575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3693972" y="1657592"/>
            <a:ext cx="151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6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SHARED CI/CD PIPELINE</a:t>
            </a:r>
            <a:endParaRPr b="0" i="0" sz="1029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3700787" y="1829083"/>
            <a:ext cx="1499100" cy="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75" u="none" cap="none" strike="noStrike">
                <a:solidFill>
                  <a:srgbClr val="8F8F8F"/>
                </a:solidFill>
                <a:latin typeface="Liter"/>
                <a:ea typeface="Liter"/>
                <a:cs typeface="Liter"/>
                <a:sym typeface="Liter"/>
              </a:rPr>
              <a:t>GitHub + Jenkins + Docker</a:t>
            </a:r>
            <a:endParaRPr b="0" i="0" sz="1029" u="none" cap="none" strike="noStrike"/>
          </a:p>
        </p:txBody>
      </p:sp>
      <p:sp>
        <p:nvSpPr>
          <p:cNvPr id="198" name="Google Shape;198;p18"/>
          <p:cNvSpPr/>
          <p:nvPr/>
        </p:nvSpPr>
        <p:spPr>
          <a:xfrm>
            <a:off x="5255817" y="1731088"/>
            <a:ext cx="204311" cy="146876"/>
          </a:xfrm>
          <a:custGeom>
            <a:rect b="b" l="l" r="r" t="t"/>
            <a:pathLst>
              <a:path extrusionOk="0" h="228600" w="28575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35997" y="2386426"/>
            <a:ext cx="91940" cy="110157"/>
          </a:xfrm>
          <a:custGeom>
            <a:rect b="b" l="l" r="r" t="t"/>
            <a:pathLst>
              <a:path extrusionOk="0" h="171450" w="128588">
                <a:moveTo>
                  <a:pt x="71862" y="5827"/>
                </a:moveTo>
                <a:cubicBezTo>
                  <a:pt x="67676" y="1641"/>
                  <a:pt x="60878" y="1641"/>
                  <a:pt x="56692" y="5827"/>
                </a:cubicBezTo>
                <a:lnTo>
                  <a:pt x="3114" y="59405"/>
                </a:lnTo>
                <a:cubicBezTo>
                  <a:pt x="-1072" y="63591"/>
                  <a:pt x="-1072" y="70388"/>
                  <a:pt x="3114" y="74574"/>
                </a:cubicBezTo>
                <a:cubicBezTo>
                  <a:pt x="7300" y="78760"/>
                  <a:pt x="14098" y="78760"/>
                  <a:pt x="18284" y="74574"/>
                </a:cubicBezTo>
                <a:lnTo>
                  <a:pt x="53578" y="39279"/>
                </a:lnTo>
                <a:lnTo>
                  <a:pt x="53578" y="163413"/>
                </a:lnTo>
                <a:cubicBezTo>
                  <a:pt x="53578" y="169340"/>
                  <a:pt x="58367" y="174129"/>
                  <a:pt x="64294" y="174129"/>
                </a:cubicBezTo>
                <a:cubicBezTo>
                  <a:pt x="70221" y="174129"/>
                  <a:pt x="75009" y="169340"/>
                  <a:pt x="75009" y="163413"/>
                </a:cubicBezTo>
                <a:lnTo>
                  <a:pt x="75009" y="39279"/>
                </a:lnTo>
                <a:lnTo>
                  <a:pt x="110304" y="74574"/>
                </a:lnTo>
                <a:cubicBezTo>
                  <a:pt x="114490" y="78760"/>
                  <a:pt x="121287" y="78760"/>
                  <a:pt x="125473" y="74574"/>
                </a:cubicBezTo>
                <a:cubicBezTo>
                  <a:pt x="129659" y="70388"/>
                  <a:pt x="129659" y="63591"/>
                  <a:pt x="125473" y="59405"/>
                </a:cubicBezTo>
                <a:lnTo>
                  <a:pt x="71895" y="5827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1460027" y="2165939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 cap="flat" cmpd="sng" w="163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1603136" y="2294556"/>
            <a:ext cx="136207" cy="122396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2702752" y="2386426"/>
            <a:ext cx="122587" cy="110157"/>
          </a:xfrm>
          <a:custGeom>
            <a:rect b="b" l="l" r="r" t="t"/>
            <a:pathLst>
              <a:path extrusionOk="0" h="171450" w="171450">
                <a:moveTo>
                  <a:pt x="3148" y="78157"/>
                </a:moveTo>
                <a:cubicBezTo>
                  <a:pt x="-1038" y="82343"/>
                  <a:pt x="-1038" y="89141"/>
                  <a:pt x="3148" y="93326"/>
                </a:cubicBezTo>
                <a:lnTo>
                  <a:pt x="56726" y="146905"/>
                </a:lnTo>
                <a:cubicBezTo>
                  <a:pt x="60912" y="151090"/>
                  <a:pt x="67709" y="151090"/>
                  <a:pt x="71895" y="146905"/>
                </a:cubicBezTo>
                <a:cubicBezTo>
                  <a:pt x="76081" y="142719"/>
                  <a:pt x="76081" y="135921"/>
                  <a:pt x="71895" y="131735"/>
                </a:cubicBezTo>
                <a:lnTo>
                  <a:pt x="36601" y="96441"/>
                </a:ln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36601" y="75009"/>
                </a:lnTo>
                <a:lnTo>
                  <a:pt x="71895" y="39715"/>
                </a:lnTo>
                <a:cubicBezTo>
                  <a:pt x="76081" y="35529"/>
                  <a:pt x="76081" y="28731"/>
                  <a:pt x="71895" y="24545"/>
                </a:cubicBezTo>
                <a:cubicBezTo>
                  <a:pt x="67709" y="20360"/>
                  <a:pt x="60912" y="20360"/>
                  <a:pt x="56726" y="24545"/>
                </a:cubicBezTo>
                <a:lnTo>
                  <a:pt x="3148" y="78124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3634983" y="2165939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cap="flat" cmpd="sng" w="163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3761054" y="2294556"/>
            <a:ext cx="170259" cy="122396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4870467" y="2386426"/>
            <a:ext cx="122587" cy="110157"/>
          </a:xfrm>
          <a:custGeom>
            <a:rect b="b" l="l" r="r" t="t"/>
            <a:pathLst>
              <a:path extrusionOk="0" h="171450" w="171450">
                <a:moveTo>
                  <a:pt x="3148" y="78157"/>
                </a:moveTo>
                <a:cubicBezTo>
                  <a:pt x="-1038" y="82343"/>
                  <a:pt x="-1038" y="89141"/>
                  <a:pt x="3148" y="93326"/>
                </a:cubicBezTo>
                <a:lnTo>
                  <a:pt x="56726" y="146905"/>
                </a:lnTo>
                <a:cubicBezTo>
                  <a:pt x="60912" y="151090"/>
                  <a:pt x="67709" y="151090"/>
                  <a:pt x="71895" y="146905"/>
                </a:cubicBezTo>
                <a:cubicBezTo>
                  <a:pt x="76081" y="142719"/>
                  <a:pt x="76081" y="135921"/>
                  <a:pt x="71895" y="131735"/>
                </a:cubicBezTo>
                <a:lnTo>
                  <a:pt x="36601" y="96441"/>
                </a:ln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36601" y="75009"/>
                </a:lnTo>
                <a:lnTo>
                  <a:pt x="71895" y="39715"/>
                </a:lnTo>
                <a:cubicBezTo>
                  <a:pt x="76081" y="35529"/>
                  <a:pt x="76081" y="28731"/>
                  <a:pt x="71895" y="24545"/>
                </a:cubicBezTo>
                <a:cubicBezTo>
                  <a:pt x="67709" y="20360"/>
                  <a:pt x="60912" y="20360"/>
                  <a:pt x="56726" y="24545"/>
                </a:cubicBezTo>
                <a:lnTo>
                  <a:pt x="3148" y="78124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5800993" y="2165939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 cap="flat" cmpd="sng" w="163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944102" y="2294556"/>
            <a:ext cx="136207" cy="122396"/>
          </a:xfrm>
          <a:custGeom>
            <a:rect b="b" l="l" r="r" t="t"/>
            <a:pathLst>
              <a:path extrusionOk="0" h="190500" w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7034774" y="2386426"/>
            <a:ext cx="122587" cy="110157"/>
          </a:xfrm>
          <a:custGeom>
            <a:rect b="b" l="l" r="r" t="t"/>
            <a:pathLst>
              <a:path extrusionOk="0" h="171450" w="171450">
                <a:moveTo>
                  <a:pt x="3148" y="78157"/>
                </a:moveTo>
                <a:cubicBezTo>
                  <a:pt x="-1038" y="82343"/>
                  <a:pt x="-1038" y="89141"/>
                  <a:pt x="3148" y="93326"/>
                </a:cubicBezTo>
                <a:lnTo>
                  <a:pt x="56726" y="146905"/>
                </a:lnTo>
                <a:cubicBezTo>
                  <a:pt x="60912" y="151090"/>
                  <a:pt x="67709" y="151090"/>
                  <a:pt x="71895" y="146905"/>
                </a:cubicBezTo>
                <a:cubicBezTo>
                  <a:pt x="76081" y="142719"/>
                  <a:pt x="76081" y="135921"/>
                  <a:pt x="71895" y="131735"/>
                </a:cubicBezTo>
                <a:lnTo>
                  <a:pt x="36601" y="96441"/>
                </a:ln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36601" y="75009"/>
                </a:lnTo>
                <a:lnTo>
                  <a:pt x="71895" y="39715"/>
                </a:lnTo>
                <a:cubicBezTo>
                  <a:pt x="76081" y="35529"/>
                  <a:pt x="76081" y="28731"/>
                  <a:pt x="71895" y="24545"/>
                </a:cubicBezTo>
                <a:cubicBezTo>
                  <a:pt x="67709" y="20360"/>
                  <a:pt x="60912" y="20360"/>
                  <a:pt x="56726" y="24545"/>
                </a:cubicBezTo>
                <a:lnTo>
                  <a:pt x="3148" y="78124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7965300" y="2165939"/>
            <a:ext cx="422243" cy="379428"/>
          </a:xfrm>
          <a:custGeom>
            <a:rect b="b" l="l" r="r" t="t"/>
            <a:pathLst>
              <a:path extrusionOk="0" h="590550" w="590550">
                <a:moveTo>
                  <a:pt x="114301" y="0"/>
                </a:moveTo>
                <a:lnTo>
                  <a:pt x="476249" y="0"/>
                </a:lnTo>
                <a:cubicBezTo>
                  <a:pt x="539376" y="0"/>
                  <a:pt x="590550" y="51174"/>
                  <a:pt x="590550" y="114301"/>
                </a:cubicBezTo>
                <a:lnTo>
                  <a:pt x="590550" y="476249"/>
                </a:lnTo>
                <a:cubicBezTo>
                  <a:pt x="590550" y="539376"/>
                  <a:pt x="539376" y="590550"/>
                  <a:pt x="47624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cap="flat" cmpd="sng" w="163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8116927" y="2294556"/>
            <a:ext cx="119182" cy="122396"/>
          </a:xfrm>
          <a:custGeom>
            <a:rect b="b" l="l" r="r" t="t"/>
            <a:pathLst>
              <a:path extrusionOk="0" h="190500" w="166688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58775" lIns="58775" spcFirstLastPara="1" rIns="58775" wrap="square" tIns="5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510450" y="3513575"/>
            <a:ext cx="230124" cy="233934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75088" y="3572104"/>
            <a:ext cx="100679" cy="116967"/>
          </a:xfrm>
          <a:custGeom>
            <a:rect b="b" l="l" r="r" t="t"/>
            <a:pathLst>
              <a:path extrusionOk="0" h="152400" w="13335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3333288" y="3513575"/>
            <a:ext cx="233934" cy="233934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70175" lIns="70175" spcFirstLastPara="1" rIns="70175" wrap="square" tIns="7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3377148" y="3572056"/>
            <a:ext cx="146209" cy="116967"/>
          </a:xfrm>
          <a:custGeom>
            <a:rect b="b" l="l" r="r" t="t"/>
            <a:pathLst>
              <a:path extrusionOk="0" h="152400" w="1905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23825" y="9525"/>
                </a:lnTo>
                <a:cubicBezTo>
                  <a:pt x="134332" y="9525"/>
                  <a:pt x="142875" y="18068"/>
                  <a:pt x="142875" y="28575"/>
                </a:cubicBezTo>
                <a:lnTo>
                  <a:pt x="142875" y="38100"/>
                </a:lnTo>
                <a:lnTo>
                  <a:pt x="157966" y="38100"/>
                </a:lnTo>
                <a:cubicBezTo>
                  <a:pt x="163026" y="38100"/>
                  <a:pt x="167878" y="40094"/>
                  <a:pt x="171450" y="43666"/>
                </a:cubicBezTo>
                <a:lnTo>
                  <a:pt x="184934" y="57150"/>
                </a:lnTo>
                <a:cubicBezTo>
                  <a:pt x="188506" y="60722"/>
                  <a:pt x="190500" y="65574"/>
                  <a:pt x="190500" y="70634"/>
                </a:cubicBezTo>
                <a:lnTo>
                  <a:pt x="190500" y="114300"/>
                </a:lnTo>
                <a:cubicBezTo>
                  <a:pt x="190500" y="124807"/>
                  <a:pt x="181957" y="133350"/>
                  <a:pt x="171450" y="133350"/>
                </a:cubicBezTo>
                <a:lnTo>
                  <a:pt x="170468" y="133350"/>
                </a:lnTo>
                <a:cubicBezTo>
                  <a:pt x="167372" y="144334"/>
                  <a:pt x="157252" y="152400"/>
                  <a:pt x="145256" y="152400"/>
                </a:cubicBezTo>
                <a:cubicBezTo>
                  <a:pt x="133261" y="152400"/>
                  <a:pt x="123170" y="144334"/>
                  <a:pt x="120045" y="133350"/>
                </a:cubicBezTo>
                <a:lnTo>
                  <a:pt x="89505" y="133350"/>
                </a:lnTo>
                <a:cubicBezTo>
                  <a:pt x="86410" y="144334"/>
                  <a:pt x="76289" y="152400"/>
                  <a:pt x="64294" y="152400"/>
                </a:cubicBezTo>
                <a:cubicBezTo>
                  <a:pt x="52298" y="152400"/>
                  <a:pt x="42208" y="144334"/>
                  <a:pt x="39082" y="133350"/>
                </a:cubicBezTo>
                <a:lnTo>
                  <a:pt x="38100" y="133350"/>
                </a:lnTo>
                <a:cubicBezTo>
                  <a:pt x="27593" y="133350"/>
                  <a:pt x="19050" y="124807"/>
                  <a:pt x="19050" y="114300"/>
                </a:cubicBez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96828"/>
                  <a:pt x="0" y="92869"/>
                </a:cubicBezTo>
                <a:cubicBezTo>
                  <a:pt x="0" y="88910"/>
                  <a:pt x="3185" y="85725"/>
                  <a:pt x="7144" y="85725"/>
                </a:cubicBezTo>
                <a:lnTo>
                  <a:pt x="40481" y="85725"/>
                </a:lnTo>
                <a:cubicBezTo>
                  <a:pt x="44440" y="85725"/>
                  <a:pt x="47625" y="82540"/>
                  <a:pt x="47625" y="78581"/>
                </a:cubicBezTo>
                <a:cubicBezTo>
                  <a:pt x="47625" y="74622"/>
                  <a:pt x="44440" y="71438"/>
                  <a:pt x="40481" y="71438"/>
                </a:cubicBezTo>
                <a:lnTo>
                  <a:pt x="7144" y="71438"/>
                </a:lnTo>
                <a:cubicBezTo>
                  <a:pt x="3185" y="71438"/>
                  <a:pt x="0" y="68253"/>
                  <a:pt x="0" y="64294"/>
                </a:cubicBezTo>
                <a:cubicBezTo>
                  <a:pt x="0" y="60335"/>
                  <a:pt x="3185" y="57150"/>
                  <a:pt x="7144" y="57150"/>
                </a:cubicBezTo>
                <a:lnTo>
                  <a:pt x="59531" y="57150"/>
                </a:lnTo>
                <a:cubicBezTo>
                  <a:pt x="63490" y="57150"/>
                  <a:pt x="66675" y="53965"/>
                  <a:pt x="66675" y="50006"/>
                </a:cubicBezTo>
                <a:cubicBezTo>
                  <a:pt x="66675" y="46047"/>
                  <a:pt x="63490" y="42863"/>
                  <a:pt x="59531" y="42863"/>
                </a:cubicBezTo>
                <a:lnTo>
                  <a:pt x="7144" y="42863"/>
                </a:lnTo>
                <a:cubicBezTo>
                  <a:pt x="3185" y="42863"/>
                  <a:pt x="0" y="39678"/>
                  <a:pt x="0" y="35719"/>
                </a:cubicBezTo>
                <a:cubicBezTo>
                  <a:pt x="0" y="31760"/>
                  <a:pt x="3185" y="28575"/>
                  <a:pt x="7144" y="28575"/>
                </a:cubicBezTo>
                <a:lnTo>
                  <a:pt x="19050" y="28575"/>
                </a:lnTo>
                <a:close/>
                <a:moveTo>
                  <a:pt x="171450" y="85725"/>
                </a:moveTo>
                <a:lnTo>
                  <a:pt x="171450" y="70634"/>
                </a:lnTo>
                <a:lnTo>
                  <a:pt x="157966" y="57150"/>
                </a:lnTo>
                <a:lnTo>
                  <a:pt x="142875" y="57150"/>
                </a:lnTo>
                <a:lnTo>
                  <a:pt x="142875" y="85725"/>
                </a:lnTo>
                <a:lnTo>
                  <a:pt x="171450" y="85725"/>
                </a:lnTo>
                <a:close/>
                <a:moveTo>
                  <a:pt x="76200" y="126206"/>
                </a:moveTo>
                <a:cubicBezTo>
                  <a:pt x="76200" y="119635"/>
                  <a:pt x="70865" y="114300"/>
                  <a:pt x="64294" y="114300"/>
                </a:cubicBezTo>
                <a:cubicBezTo>
                  <a:pt x="57723" y="114300"/>
                  <a:pt x="52388" y="119635"/>
                  <a:pt x="52388" y="126206"/>
                </a:cubicBezTo>
                <a:cubicBezTo>
                  <a:pt x="52388" y="132777"/>
                  <a:pt x="57723" y="138113"/>
                  <a:pt x="64294" y="138113"/>
                </a:cubicBezTo>
                <a:cubicBezTo>
                  <a:pt x="70865" y="138113"/>
                  <a:pt x="76200" y="132777"/>
                  <a:pt x="76200" y="126206"/>
                </a:cubicBezTo>
                <a:close/>
                <a:moveTo>
                  <a:pt x="145256" y="138113"/>
                </a:moveTo>
                <a:cubicBezTo>
                  <a:pt x="151827" y="138113"/>
                  <a:pt x="157163" y="132777"/>
                  <a:pt x="157163" y="126206"/>
                </a:cubicBezTo>
                <a:cubicBezTo>
                  <a:pt x="157163" y="119635"/>
                  <a:pt x="151827" y="114300"/>
                  <a:pt x="145256" y="114300"/>
                </a:cubicBezTo>
                <a:cubicBezTo>
                  <a:pt x="138685" y="114300"/>
                  <a:pt x="133350" y="119635"/>
                  <a:pt x="133350" y="126206"/>
                </a:cubicBezTo>
                <a:cubicBezTo>
                  <a:pt x="133350" y="132777"/>
                  <a:pt x="138685" y="138113"/>
                  <a:pt x="145256" y="138113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70175" lIns="70175" spcFirstLastPara="1" rIns="70175" wrap="square" tIns="7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339377" y="3522191"/>
            <a:ext cx="233934" cy="233934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70175" lIns="70175" spcFirstLastPara="1" rIns="70175" wrap="square" tIns="7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390548" y="3580672"/>
            <a:ext cx="131588" cy="116967"/>
          </a:xfrm>
          <a:custGeom>
            <a:rect b="b" l="l" r="r" t="t"/>
            <a:pathLst>
              <a:path extrusionOk="0" h="152400" w="17145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A855F7"/>
          </a:solidFill>
          <a:ln>
            <a:noFill/>
          </a:ln>
        </p:spPr>
        <p:txBody>
          <a:bodyPr anchorCtr="0" anchor="ctr" bIns="70175" lIns="70175" spcFirstLastPara="1" rIns="70175" wrap="square" tIns="7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12605" y="1394910"/>
            <a:ext cx="2745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PLAN</a:t>
            </a:r>
            <a:endParaRPr b="0" i="0" sz="1048" u="none" cap="none" strike="noStrike"/>
          </a:p>
        </p:txBody>
      </p:sp>
      <p:sp>
        <p:nvSpPr>
          <p:cNvPr id="218" name="Google Shape;218;p18"/>
          <p:cNvSpPr/>
          <p:nvPr/>
        </p:nvSpPr>
        <p:spPr>
          <a:xfrm>
            <a:off x="2756195" y="1394910"/>
            <a:ext cx="2931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CODE</a:t>
            </a:r>
            <a:endParaRPr b="0" i="0" sz="1048" u="none" cap="none" strike="noStrike"/>
          </a:p>
        </p:txBody>
      </p:sp>
      <p:sp>
        <p:nvSpPr>
          <p:cNvPr id="219" name="Google Shape;219;p18"/>
          <p:cNvSpPr/>
          <p:nvPr/>
        </p:nvSpPr>
        <p:spPr>
          <a:xfrm>
            <a:off x="4942571" y="1394910"/>
            <a:ext cx="3057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BUILD</a:t>
            </a:r>
            <a:endParaRPr b="0" i="0" sz="1048" u="none" cap="none" strike="noStrike"/>
          </a:p>
        </p:txBody>
      </p:sp>
      <p:sp>
        <p:nvSpPr>
          <p:cNvPr id="220" name="Google Shape;220;p18"/>
          <p:cNvSpPr/>
          <p:nvPr/>
        </p:nvSpPr>
        <p:spPr>
          <a:xfrm>
            <a:off x="7129702" y="1394910"/>
            <a:ext cx="2619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A855F7"/>
                </a:solidFill>
                <a:latin typeface="Liter"/>
                <a:ea typeface="Liter"/>
                <a:cs typeface="Liter"/>
                <a:sym typeface="Liter"/>
              </a:rPr>
              <a:t>TEST</a:t>
            </a:r>
            <a:endParaRPr b="0" i="0" sz="1048" u="none" cap="none" strike="noStrike"/>
          </a:p>
        </p:txBody>
      </p:sp>
      <p:sp>
        <p:nvSpPr>
          <p:cNvPr id="221" name="Google Shape;221;p18"/>
          <p:cNvSpPr/>
          <p:nvPr/>
        </p:nvSpPr>
        <p:spPr>
          <a:xfrm>
            <a:off x="1476959" y="2583702"/>
            <a:ext cx="4617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F97316"/>
                </a:solidFill>
                <a:latin typeface="Liter"/>
                <a:ea typeface="Liter"/>
                <a:cs typeface="Liter"/>
                <a:sym typeface="Liter"/>
              </a:rPr>
              <a:t>MONITOR</a:t>
            </a:r>
            <a:endParaRPr b="0" i="0" sz="1048" u="none" cap="none" strike="noStrike"/>
          </a:p>
        </p:txBody>
      </p:sp>
      <p:sp>
        <p:nvSpPr>
          <p:cNvPr id="222" name="Google Shape;222;p18"/>
          <p:cNvSpPr/>
          <p:nvPr/>
        </p:nvSpPr>
        <p:spPr>
          <a:xfrm>
            <a:off x="3654833" y="2583702"/>
            <a:ext cx="4491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EF4444"/>
                </a:solidFill>
                <a:latin typeface="Liter"/>
                <a:ea typeface="Liter"/>
                <a:cs typeface="Liter"/>
                <a:sym typeface="Liter"/>
              </a:rPr>
              <a:t>OPERATE</a:t>
            </a:r>
            <a:endParaRPr b="0" i="0" sz="1048" u="none" cap="none" strike="noStrike"/>
          </a:p>
        </p:txBody>
      </p:sp>
      <p:sp>
        <p:nvSpPr>
          <p:cNvPr id="223" name="Google Shape;223;p18"/>
          <p:cNvSpPr/>
          <p:nvPr/>
        </p:nvSpPr>
        <p:spPr>
          <a:xfrm>
            <a:off x="5845863" y="2575087"/>
            <a:ext cx="3930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DEPLOY</a:t>
            </a:r>
            <a:endParaRPr b="0" i="0" sz="1048" u="none" cap="none" strike="noStrike"/>
          </a:p>
        </p:txBody>
      </p:sp>
      <p:sp>
        <p:nvSpPr>
          <p:cNvPr id="224" name="Google Shape;224;p18"/>
          <p:cNvSpPr/>
          <p:nvPr/>
        </p:nvSpPr>
        <p:spPr>
          <a:xfrm>
            <a:off x="7996103" y="2575087"/>
            <a:ext cx="4305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87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RELEASE</a:t>
            </a:r>
            <a:endParaRPr b="0" i="0" sz="1048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155200" y="227450"/>
            <a:ext cx="85206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Who's In The Room?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203675" y="4442200"/>
            <a:ext cx="8622459" cy="584430"/>
          </a:xfrm>
          <a:custGeom>
            <a:rect b="b" l="l" r="r" t="t"/>
            <a:pathLst>
              <a:path extrusionOk="0" h="771525" w="1142047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657224"/>
                </a:lnTo>
                <a:cubicBezTo>
                  <a:pt x="11420475" y="720351"/>
                  <a:pt x="11369301" y="771525"/>
                  <a:pt x="113061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10196"/>
                </a:srgbClr>
              </a:gs>
            </a:gsLst>
            <a:lin ang="0" scaled="0"/>
          </a:gradFill>
          <a:ln cap="flat" cmpd="sng" w="8650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325" lIns="62325" spcFirstLastPara="1" rIns="62325" wrap="square" tIns="6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300075" y="4537000"/>
            <a:ext cx="454914" cy="381762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>
              <a:alpha val="30199"/>
            </a:srgbClr>
          </a:solidFill>
          <a:ln>
            <a:noFill/>
          </a:ln>
        </p:spPr>
        <p:txBody>
          <a:bodyPr anchorCtr="0" anchor="ctr" bIns="62325" lIns="62325" spcFirstLastPara="1" rIns="62325" wrap="square" tIns="6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386750" y="4611429"/>
            <a:ext cx="281583" cy="228600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62325" lIns="62325" spcFirstLastPara="1" rIns="62325" wrap="square" tIns="6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531000" y="4569175"/>
            <a:ext cx="6987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rgbClr val="504AED"/>
                </a:solidFill>
              </a:rPr>
              <a:t>In a true DevOps team, these roles collaborate daily</a:t>
            </a:r>
            <a:r>
              <a:rPr lang="en-GB" sz="1000">
                <a:solidFill>
                  <a:srgbClr val="EBEBEB"/>
                </a:solidFill>
              </a:rPr>
              <a:t> — not handoff sequentially.</a:t>
            </a:r>
            <a:endParaRPr sz="100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94650" y="81330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104300" y="258505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3199475" y="258505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104300" y="81330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3199475" y="81330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294650" y="2585050"/>
            <a:ext cx="2843100" cy="1568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E82C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97940" y="888550"/>
            <a:ext cx="178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Software Developer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39550" y="899200"/>
            <a:ext cx="381762" cy="381762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>
            <a:noFill/>
          </a:ln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31011" y="1010544"/>
            <a:ext cx="198834" cy="159067"/>
          </a:xfrm>
          <a:custGeom>
            <a:rect b="b" l="l" r="r" t="t"/>
            <a:pathLst>
              <a:path extrusionOk="0" h="190500" w="238125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3360825" y="894050"/>
            <a:ext cx="381762" cy="381762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3454839" y="1016842"/>
            <a:ext cx="204192" cy="17526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825481" y="964528"/>
            <a:ext cx="19782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9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DevOps / Platform Engineer</a:t>
            </a:r>
            <a:endParaRPr b="0" i="0" sz="1473" u="none" cap="none" strike="noStrike"/>
          </a:p>
        </p:txBody>
      </p:sp>
      <p:sp>
        <p:nvSpPr>
          <p:cNvPr id="246" name="Google Shape;246;p19"/>
          <p:cNvSpPr/>
          <p:nvPr/>
        </p:nvSpPr>
        <p:spPr>
          <a:xfrm>
            <a:off x="6292400" y="899200"/>
            <a:ext cx="381762" cy="381762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6405272" y="1009825"/>
            <a:ext cx="163354" cy="163354"/>
          </a:xfrm>
          <a:custGeom>
            <a:rect b="b" l="l" r="r" t="t"/>
            <a:pathLst>
              <a:path extrusionOk="0" h="190500" w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84000" lIns="84000" spcFirstLastPara="1" rIns="84000" wrap="square" tIns="8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6774471" y="943647"/>
            <a:ext cx="14532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41" u="none" cap="none" strike="noStrike">
                <a:solidFill>
                  <a:srgbClr val="14B8A6"/>
                </a:solidFill>
                <a:latin typeface="Liter"/>
                <a:ea typeface="Liter"/>
                <a:cs typeface="Liter"/>
                <a:sym typeface="Liter"/>
              </a:rPr>
              <a:t>QA / Test Engineer</a:t>
            </a:r>
            <a:endParaRPr b="0" i="0" sz="1470" u="none" cap="none" strike="noStrike"/>
          </a:p>
        </p:txBody>
      </p:sp>
      <p:sp>
        <p:nvSpPr>
          <p:cNvPr id="249" name="Google Shape;249;p19"/>
          <p:cNvSpPr/>
          <p:nvPr/>
        </p:nvSpPr>
        <p:spPr>
          <a:xfrm>
            <a:off x="476125" y="2650203"/>
            <a:ext cx="392049" cy="392049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590473" y="2764551"/>
            <a:ext cx="163354" cy="163354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78375" lIns="78375" spcFirstLastPara="1" rIns="78375" wrap="square" tIns="78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950741" y="2719607"/>
            <a:ext cx="1505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50" u="none" cap="none" strike="noStrike">
                <a:solidFill>
                  <a:srgbClr val="EF4444"/>
                </a:solidFill>
                <a:latin typeface="Liter"/>
                <a:ea typeface="Liter"/>
                <a:cs typeface="Liter"/>
                <a:sym typeface="Liter"/>
              </a:rPr>
              <a:t>Security Engineer</a:t>
            </a:r>
            <a:endParaRPr b="0" i="0" sz="1600" u="none" cap="none" strike="noStrike"/>
          </a:p>
        </p:txBody>
      </p:sp>
      <p:sp>
        <p:nvSpPr>
          <p:cNvPr id="252" name="Google Shape;252;p19"/>
          <p:cNvSpPr/>
          <p:nvPr/>
        </p:nvSpPr>
        <p:spPr>
          <a:xfrm>
            <a:off x="3360925" y="2662972"/>
            <a:ext cx="392049" cy="392049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3485325" y="2777181"/>
            <a:ext cx="142935" cy="163354"/>
          </a:xfrm>
          <a:custGeom>
            <a:rect b="b" l="l" r="r" t="t"/>
            <a:pathLst>
              <a:path extrusionOk="0" h="190500" w="166688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A855F7"/>
          </a:solidFill>
          <a:ln>
            <a:noFill/>
          </a:ln>
        </p:spPr>
        <p:txBody>
          <a:bodyPr anchorCtr="0" anchor="ctr" bIns="78300" lIns="78300" spcFirstLastPara="1" rIns="78300" wrap="square" tIns="78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3834186" y="2734202"/>
            <a:ext cx="18411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61" u="none" cap="none" strike="noStrike">
                <a:solidFill>
                  <a:srgbClr val="A855F7"/>
                </a:solidFill>
                <a:latin typeface="Liter"/>
                <a:ea typeface="Liter"/>
                <a:cs typeface="Liter"/>
                <a:sym typeface="Liter"/>
              </a:rPr>
              <a:t>Site Reliability Engineer</a:t>
            </a:r>
            <a:endParaRPr b="0" i="0" sz="1494" u="none" cap="none" strike="noStrike"/>
          </a:p>
        </p:txBody>
      </p:sp>
      <p:sp>
        <p:nvSpPr>
          <p:cNvPr id="255" name="Google Shape;255;p19"/>
          <p:cNvSpPr/>
          <p:nvPr/>
        </p:nvSpPr>
        <p:spPr>
          <a:xfrm>
            <a:off x="6245714" y="2654738"/>
            <a:ext cx="392049" cy="392049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6360164" y="2769188"/>
            <a:ext cx="163354" cy="163354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14114" y="120960"/>
                </a:moveTo>
                <a:lnTo>
                  <a:pt x="60424" y="141610"/>
                </a:lnTo>
                <a:cubicBezTo>
                  <a:pt x="53206" y="144400"/>
                  <a:pt x="46100" y="137294"/>
                  <a:pt x="48890" y="130076"/>
                </a:cubicBezTo>
                <a:lnTo>
                  <a:pt x="69540" y="76386"/>
                </a:lnTo>
                <a:cubicBezTo>
                  <a:pt x="70768" y="73223"/>
                  <a:pt x="73223" y="70768"/>
                  <a:pt x="76386" y="69540"/>
                </a:cubicBezTo>
                <a:lnTo>
                  <a:pt x="130076" y="48890"/>
                </a:lnTo>
                <a:cubicBezTo>
                  <a:pt x="137294" y="46100"/>
                  <a:pt x="144400" y="53206"/>
                  <a:pt x="141610" y="60424"/>
                </a:cubicBezTo>
                <a:lnTo>
                  <a:pt x="120960" y="114114"/>
                </a:lnTo>
                <a:cubicBezTo>
                  <a:pt x="119769" y="117277"/>
                  <a:pt x="117277" y="119732"/>
                  <a:pt x="114114" y="120960"/>
                </a:cubicBezTo>
                <a:close/>
                <a:moveTo>
                  <a:pt x="107156" y="95250"/>
                </a:moveTo>
                <a:cubicBezTo>
                  <a:pt x="107156" y="88679"/>
                  <a:pt x="101821" y="83344"/>
                  <a:pt x="95250" y="83344"/>
                </a:cubicBezTo>
                <a:cubicBezTo>
                  <a:pt x="88679" y="83344"/>
                  <a:pt x="83344" y="88679"/>
                  <a:pt x="83344" y="95250"/>
                </a:cubicBezTo>
                <a:cubicBezTo>
                  <a:pt x="83344" y="101821"/>
                  <a:pt x="88679" y="107156"/>
                  <a:pt x="95250" y="107156"/>
                </a:cubicBezTo>
                <a:cubicBezTo>
                  <a:pt x="101821" y="107156"/>
                  <a:pt x="107156" y="101821"/>
                  <a:pt x="107156" y="95250"/>
                </a:cubicBezTo>
                <a:close/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78475" lIns="78475" spcFirstLastPara="1" rIns="78475" wrap="square" tIns="7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6701752" y="2719256"/>
            <a:ext cx="21828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59" u="none" cap="none" strike="noStrike">
                <a:solidFill>
                  <a:srgbClr val="F97316"/>
                </a:solidFill>
                <a:latin typeface="Liter"/>
                <a:ea typeface="Liter"/>
                <a:cs typeface="Liter"/>
                <a:sym typeface="Liter"/>
              </a:rPr>
              <a:t>Product Owner / Scrum Master</a:t>
            </a:r>
            <a:endParaRPr b="0" i="0" sz="1373" u="none" cap="none" strike="noStrike"/>
          </a:p>
        </p:txBody>
      </p:sp>
      <p:sp>
        <p:nvSpPr>
          <p:cNvPr id="258" name="Google Shape;258;p19"/>
          <p:cNvSpPr txBox="1"/>
          <p:nvPr/>
        </p:nvSpPr>
        <p:spPr>
          <a:xfrm>
            <a:off x="349050" y="1410950"/>
            <a:ext cx="26835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Codes, reviews PRs, takes part in CI/CD. In DevOps, also contributes to determining deployment strategy.</a:t>
            </a:r>
            <a:endParaRPr sz="1500">
              <a:solidFill>
                <a:srgbClr val="8F8F8F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3308825" y="1402291"/>
            <a:ext cx="26244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Creates and sustains CI/CD pipelines, Infrastructure as Code, and shared tooling.</a:t>
            </a:r>
            <a:endParaRPr sz="1050">
              <a:solidFill>
                <a:srgbClr val="8F8F8F"/>
              </a:solidFill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6209500" y="1402291"/>
            <a:ext cx="26244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Authoring automated tests, embracing the idea of shift-left testing - preventing bugs in production.</a:t>
            </a:r>
            <a:endParaRPr sz="1050">
              <a:solidFill>
                <a:srgbClr val="8F8F8F"/>
              </a:solidFill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392334" y="3241359"/>
            <a:ext cx="2592900" cy="14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Incorporates security checks into pipeline. There is no longer a security as an end-of-the-day checkpoint.</a:t>
            </a:r>
            <a:endParaRPr sz="10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F8F8F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3352120" y="3004525"/>
            <a:ext cx="25626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Responsible for system uptime, incident response and post-mortem leadership and SLA/SLO.</a:t>
            </a:r>
            <a:endParaRPr b="0" i="0" sz="1050" u="none" cap="none" strike="noStrike">
              <a:solidFill>
                <a:srgbClr val="8F8F8F"/>
              </a:solidFill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238300" y="3142214"/>
            <a:ext cx="25023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F8F8F"/>
                </a:solidFill>
              </a:rPr>
              <a:t>Connections business and technology. Works on the backlog, eliminates blockers, safeguards team focus.</a:t>
            </a:r>
            <a:endParaRPr b="0" i="0" sz="1050" u="none" cap="none" strike="noStrike"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type="title"/>
          </p:nvPr>
        </p:nvSpPr>
        <p:spPr>
          <a:xfrm>
            <a:off x="207250" y="236150"/>
            <a:ext cx="8520600" cy="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How DevOps Teams Stay Aligned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253100" y="717750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515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504AED"/>
                </a:solidFill>
              </a:rPr>
              <a:t>Daily Standups</a:t>
            </a:r>
            <a:endParaRPr b="1" sz="90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15 minutes, max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What did I do? What will I do? Any blockers? Makes everyone on track without protracted meetings.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504AED"/>
              </a:solidFill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124538" y="2835672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E82C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82C35"/>
                </a:solidFill>
              </a:rPr>
              <a:t>Shared Monitoring Dashboards</a:t>
            </a:r>
            <a:endParaRPr b="1" sz="90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One live view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A single live view of system health viewable to Dev, Ops and management at the same time, no longer, the servers are fine on our side.</a:t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E82C35"/>
              </a:solidFill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197460" y="2835672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F56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55D14"/>
                </a:solidFill>
              </a:rPr>
              <a:t>Shared On-Call Rotation</a:t>
            </a:r>
            <a:endParaRPr b="1" sz="90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"You built it, you support it"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Developers take turns being on-call for production. Incentivizes writing reliable code.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55D14"/>
              </a:solidFill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253100" y="2835672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9533F5"/>
                </a:solidFill>
              </a:rPr>
              <a:t>Kanban / Sprint Boards</a:t>
            </a:r>
            <a:endParaRPr b="1" sz="9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Always visible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Work is always visible. Everyone (Dev, Ops, QA) is aware of what is being done, what is blocked, and what is complete.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9533F5"/>
              </a:solidFill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3188807" y="717750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CAC95"/>
                </a:solidFill>
              </a:rPr>
              <a:t>Blameless Post-Mortems</a:t>
            </a:r>
            <a:endParaRPr b="1" sz="9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Originated at Google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In case of system failures, the team will question, How did our process fail? - not Who screwed up? Now industry standard.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1CAC95"/>
              </a:solidFill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124538" y="709091"/>
            <a:ext cx="2707800" cy="18963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2F69F3"/>
                </a:solidFill>
              </a:rPr>
              <a:t>ChatOps</a:t>
            </a:r>
            <a:endParaRPr b="1" sz="90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7C7C"/>
                </a:solidFill>
              </a:rPr>
              <a:t>Slack / Teams</a:t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Shared channels receive deployments, alerts and incidents. Production events are viewed live by the entire team.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2F69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>
            <p:ph type="title"/>
          </p:nvPr>
        </p:nvSpPr>
        <p:spPr>
          <a:xfrm>
            <a:off x="153600" y="2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Netflix — The Gold Standard of DevOps Collaboration (Case Study)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136925" y="881500"/>
            <a:ext cx="4364700" cy="2250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E82C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Netflix was a </a:t>
            </a:r>
            <a:r>
              <a:rPr b="1" lang="en-GB" sz="850">
                <a:solidFill>
                  <a:srgbClr val="E82C35"/>
                </a:solidFill>
              </a:rPr>
              <a:t>monolith</a:t>
            </a:r>
            <a:endParaRPr b="1" sz="8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EBEBEB"/>
                </a:solidFill>
              </a:rPr>
              <a:t>            </a:t>
            </a:r>
            <a:r>
              <a:rPr lang="en-GB" sz="850">
                <a:solidFill>
                  <a:srgbClr val="EBEBEB"/>
                </a:solidFill>
              </a:rPr>
              <a:t>A single database corruption took down the </a:t>
            </a:r>
            <a:r>
              <a:rPr b="1" lang="en-GB" sz="850">
                <a:solidFill>
                  <a:srgbClr val="E82C35"/>
                </a:solidFill>
              </a:rPr>
              <a:t>entire service for 3 days</a:t>
            </a:r>
            <a:endParaRPr b="1" sz="8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EBEBEB"/>
                </a:solidFill>
              </a:rPr>
              <a:t>            </a:t>
            </a:r>
            <a:r>
              <a:rPr lang="en-GB" sz="850">
                <a:solidFill>
                  <a:srgbClr val="EBEBEB"/>
                </a:solidFill>
              </a:rPr>
              <a:t>Dev and Ops teams were </a:t>
            </a:r>
            <a:r>
              <a:rPr b="1" lang="en-GB" sz="850">
                <a:solidFill>
                  <a:srgbClr val="E82C35"/>
                </a:solidFill>
              </a:rPr>
              <a:t>completely siloed</a:t>
            </a:r>
            <a:endParaRPr b="1" sz="8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>
                <a:solidFill>
                  <a:srgbClr val="EBEBEB"/>
                </a:solidFill>
              </a:rPr>
              <a:t>            </a:t>
            </a:r>
            <a:r>
              <a:rPr lang="en-GB" sz="850">
                <a:solidFill>
                  <a:srgbClr val="EBEBEB"/>
                </a:solidFill>
              </a:rPr>
              <a:t>Releases took </a:t>
            </a:r>
            <a:r>
              <a:rPr b="1" lang="en-GB" sz="850">
                <a:solidFill>
                  <a:srgbClr val="E82C35"/>
                </a:solidFill>
              </a:rPr>
              <a:t>weeks</a:t>
            </a:r>
            <a:r>
              <a:rPr lang="en-GB" sz="850">
                <a:solidFill>
                  <a:srgbClr val="EBEBEB"/>
                </a:solidFill>
              </a:rPr>
              <a:t>, outages were frequent</a:t>
            </a:r>
            <a:endParaRPr sz="8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E82C35"/>
                </a:solidFill>
              </a:rPr>
              <a:t>	</a:t>
            </a:r>
            <a:endParaRPr b="1" sz="11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E82C35"/>
              </a:solidFill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572000" y="881500"/>
            <a:ext cx="4422600" cy="2250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Migrated from monolith → </a:t>
            </a:r>
            <a:r>
              <a:rPr b="1" lang="en-GB" sz="850">
                <a:solidFill>
                  <a:srgbClr val="1CAC95"/>
                </a:solidFill>
              </a:rPr>
              <a:t>800+ microservices</a:t>
            </a:r>
            <a:endParaRPr b="1" sz="8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Created </a:t>
            </a:r>
            <a:r>
              <a:rPr b="1" lang="en-GB" sz="850">
                <a:solidFill>
                  <a:srgbClr val="1CAC95"/>
                </a:solidFill>
              </a:rPr>
              <a:t>"Full Cycle Developer"</a:t>
            </a:r>
            <a:r>
              <a:rPr lang="en-GB" sz="850">
                <a:solidFill>
                  <a:srgbClr val="EBEBEB"/>
                </a:solidFill>
              </a:rPr>
              <a:t> teams</a:t>
            </a:r>
            <a:endParaRPr sz="8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Built </a:t>
            </a:r>
            <a:r>
              <a:rPr b="1" lang="en-GB" sz="850">
                <a:solidFill>
                  <a:srgbClr val="1CAC95"/>
                </a:solidFill>
              </a:rPr>
              <a:t>Spinnaker</a:t>
            </a:r>
            <a:r>
              <a:rPr lang="en-GB" sz="850">
                <a:solidFill>
                  <a:srgbClr val="EBEBEB"/>
                </a:solidFill>
              </a:rPr>
              <a:t> — open-source CI/CD platform</a:t>
            </a:r>
            <a:endParaRPr sz="8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Created </a:t>
            </a:r>
            <a:r>
              <a:rPr b="1" lang="en-GB" sz="850">
                <a:solidFill>
                  <a:srgbClr val="1CAC95"/>
                </a:solidFill>
              </a:rPr>
              <a:t>Chaos Monkey</a:t>
            </a:r>
            <a:r>
              <a:rPr lang="en-GB" sz="850">
                <a:solidFill>
                  <a:srgbClr val="EBEBEB"/>
                </a:solidFill>
              </a:rPr>
              <a:t> — randomly kills prod servers</a:t>
            </a:r>
            <a:endParaRPr sz="8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850">
                <a:solidFill>
                  <a:srgbClr val="EBEBEB"/>
                </a:solidFill>
              </a:rPr>
              <a:t>Adopted: </a:t>
            </a:r>
            <a:r>
              <a:rPr b="1" lang="en-GB" sz="850">
                <a:solidFill>
                  <a:srgbClr val="1CAC95"/>
                </a:solidFill>
              </a:rPr>
              <a:t>"You build it, you run it"</a:t>
            </a:r>
            <a:endParaRPr b="1" sz="8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GB" sz="1150">
                <a:solidFill>
                  <a:srgbClr val="1CAC95"/>
                </a:solidFill>
              </a:rPr>
            </a:br>
            <a:br>
              <a:rPr b="1" lang="en-GB" sz="1150">
                <a:solidFill>
                  <a:srgbClr val="1CAC95"/>
                </a:solidFill>
              </a:rPr>
            </a:br>
            <a:endParaRPr b="1" sz="1150">
              <a:solidFill>
                <a:srgbClr val="1CAC95"/>
              </a:solidFill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857375" y="3217900"/>
            <a:ext cx="2137200" cy="881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F56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F55D14"/>
                </a:solidFill>
              </a:rPr>
              <a:t>~1000</a:t>
            </a:r>
            <a:endParaRPr b="1" sz="1650">
              <a:solidFill>
                <a:srgbClr val="F55D1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Engineers collaborating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F55D14"/>
              </a:solidFill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36925" y="3217900"/>
            <a:ext cx="2019600" cy="881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504AED"/>
                </a:solidFill>
              </a:rPr>
              <a:t>500+</a:t>
            </a:r>
            <a:endParaRPr b="1" sz="1650">
              <a:solidFill>
                <a:srgbClr val="504AED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Deployments/day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504AED"/>
              </a:solidFill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2304776" y="3217900"/>
            <a:ext cx="2137200" cy="881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1CAC95"/>
                </a:solidFill>
              </a:rPr>
              <a:t>99.99%</a:t>
            </a:r>
            <a:endParaRPr b="1" sz="1650">
              <a:solidFill>
                <a:srgbClr val="1CAC9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Uptime SLA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1CAC95"/>
              </a:solidFill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572000" y="3217900"/>
            <a:ext cx="2137200" cy="881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9533F5"/>
                </a:solidFill>
              </a:rPr>
              <a:t>238M+</a:t>
            </a:r>
            <a:endParaRPr b="1" sz="1650">
              <a:solidFill>
                <a:srgbClr val="9533F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Subscribers served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9533F5"/>
              </a:solidFill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95325" y="4250600"/>
            <a:ext cx="8799300" cy="584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F4444">
                  <a:alpha val="20000"/>
                </a:srgbClr>
              </a:gs>
              <a:gs pos="100000">
                <a:srgbClr val="EF4444">
                  <a:alpha val="20000"/>
                </a:srgbClr>
              </a:gs>
            </a:gsLst>
            <a:lin ang="5400012" scaled="0"/>
          </a:gra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1000">
                <a:solidFill>
                  <a:srgbClr val="EBEBEB"/>
                </a:solidFill>
              </a:rPr>
              <a:t>"The best way to avoid failure is to fail constantly."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EBEBEB"/>
                </a:solidFill>
              </a:rPr>
              <a:t>           </a:t>
            </a:r>
            <a:r>
              <a:rPr lang="en-GB" sz="750">
                <a:solidFill>
                  <a:srgbClr val="7C7C7C"/>
                </a:solidFill>
              </a:rPr>
              <a:t>— Netflix Engineering Culture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EBEBEB"/>
              </a:solidFill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394250" y="1000125"/>
            <a:ext cx="325755" cy="325755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65175" lIns="65175" spcFirstLastPara="1" rIns="65175" wrap="square" tIns="6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489319" y="1095194"/>
            <a:ext cx="135731" cy="135731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65175" lIns="65175" spcFirstLastPara="1" rIns="65175" wrap="square" tIns="65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489350" y="1450243"/>
            <a:ext cx="135684" cy="135636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40150" lIns="40150" spcFirstLastPara="1" rIns="40150" wrap="square" tIns="40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5"/>
          </a:p>
        </p:txBody>
      </p:sp>
      <p:sp>
        <p:nvSpPr>
          <p:cNvPr id="290" name="Google Shape;290;p21"/>
          <p:cNvSpPr/>
          <p:nvPr/>
        </p:nvSpPr>
        <p:spPr>
          <a:xfrm>
            <a:off x="489275" y="1647782"/>
            <a:ext cx="135636" cy="135636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40150" lIns="40150" spcFirstLastPara="1" rIns="40150" wrap="square" tIns="40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 rot="10800000">
            <a:off x="489368" y="1835395"/>
            <a:ext cx="135636" cy="135636"/>
          </a:xfrm>
          <a:custGeom>
            <a:rect b="b" l="l" r="r" t="t"/>
            <a:pathLst>
              <a:path extrusionOk="0" h="152400" w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40150" lIns="40150" spcFirstLastPara="1" rIns="40150" wrap="square" tIns="40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5"/>
          </a:p>
        </p:txBody>
      </p:sp>
      <p:sp>
        <p:nvSpPr>
          <p:cNvPr id="292" name="Google Shape;292;p21"/>
          <p:cNvSpPr/>
          <p:nvPr/>
        </p:nvSpPr>
        <p:spPr>
          <a:xfrm>
            <a:off x="489225" y="2022997"/>
            <a:ext cx="135731" cy="135636"/>
          </a:xfrm>
          <a:custGeom>
            <a:rect b="b" l="l" r="r" t="t"/>
            <a:pathLst>
              <a:path extrusionOk="0" h="152400" w="114300">
                <a:moveTo>
                  <a:pt x="9525" y="0"/>
                </a:moveTo>
                <a:cubicBezTo>
                  <a:pt x="4256" y="0"/>
                  <a:pt x="0" y="4256"/>
                  <a:pt x="0" y="9525"/>
                </a:cubicBezTo>
                <a:cubicBezTo>
                  <a:pt x="0" y="14794"/>
                  <a:pt x="4256" y="19050"/>
                  <a:pt x="9525" y="19050"/>
                </a:cubicBezTo>
                <a:lnTo>
                  <a:pt x="9525" y="22324"/>
                </a:lnTo>
                <a:cubicBezTo>
                  <a:pt x="9525" y="34945"/>
                  <a:pt x="14555" y="47059"/>
                  <a:pt x="23485" y="55989"/>
                </a:cubicBezTo>
                <a:lnTo>
                  <a:pt x="43696" y="76200"/>
                </a:lnTo>
                <a:lnTo>
                  <a:pt x="23485" y="96411"/>
                </a:lnTo>
                <a:cubicBezTo>
                  <a:pt x="14555" y="105341"/>
                  <a:pt x="9525" y="117455"/>
                  <a:pt x="9525" y="130076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04775" y="152400"/>
                </a:lnTo>
                <a:cubicBezTo>
                  <a:pt x="110044" y="152400"/>
                  <a:pt x="114300" y="148144"/>
                  <a:pt x="114300" y="142875"/>
                </a:cubicBezTo>
                <a:cubicBezTo>
                  <a:pt x="114300" y="137606"/>
                  <a:pt x="110044" y="133350"/>
                  <a:pt x="104775" y="133350"/>
                </a:cubicBezTo>
                <a:lnTo>
                  <a:pt x="104775" y="130076"/>
                </a:lnTo>
                <a:cubicBezTo>
                  <a:pt x="104775" y="117455"/>
                  <a:pt x="99745" y="105341"/>
                  <a:pt x="90815" y="96411"/>
                </a:cubicBezTo>
                <a:lnTo>
                  <a:pt x="70604" y="76200"/>
                </a:lnTo>
                <a:lnTo>
                  <a:pt x="90815" y="55989"/>
                </a:lnTo>
                <a:cubicBezTo>
                  <a:pt x="99745" y="47059"/>
                  <a:pt x="104775" y="34945"/>
                  <a:pt x="104775" y="22324"/>
                </a:cubicBezTo>
                <a:lnTo>
                  <a:pt x="104775" y="19050"/>
                </a:lnTo>
                <a:cubicBezTo>
                  <a:pt x="110044" y="19050"/>
                  <a:pt x="114300" y="14794"/>
                  <a:pt x="114300" y="9525"/>
                </a:cubicBezTo>
                <a:cubicBezTo>
                  <a:pt x="114300" y="4256"/>
                  <a:pt x="110044" y="0"/>
                  <a:pt x="104775" y="0"/>
                </a:cubicBezTo>
                <a:lnTo>
                  <a:pt x="9525" y="0"/>
                </a:lnTo>
                <a:close/>
                <a:moveTo>
                  <a:pt x="28575" y="22324"/>
                </a:moveTo>
                <a:lnTo>
                  <a:pt x="28575" y="19050"/>
                </a:lnTo>
                <a:lnTo>
                  <a:pt x="85725" y="19050"/>
                </a:lnTo>
                <a:lnTo>
                  <a:pt x="85725" y="22324"/>
                </a:lnTo>
                <a:cubicBezTo>
                  <a:pt x="85725" y="27980"/>
                  <a:pt x="84058" y="33457"/>
                  <a:pt x="80962" y="38100"/>
                </a:cubicBezTo>
                <a:lnTo>
                  <a:pt x="33338" y="38100"/>
                </a:lnTo>
                <a:cubicBezTo>
                  <a:pt x="30272" y="33457"/>
                  <a:pt x="28575" y="27980"/>
                  <a:pt x="28575" y="22324"/>
                </a:cubicBezTo>
                <a:close/>
                <a:moveTo>
                  <a:pt x="33338" y="114300"/>
                </a:moveTo>
                <a:cubicBezTo>
                  <a:pt x="34379" y="112722"/>
                  <a:pt x="35600" y="111234"/>
                  <a:pt x="36939" y="109865"/>
                </a:cubicBezTo>
                <a:lnTo>
                  <a:pt x="57150" y="89654"/>
                </a:lnTo>
                <a:lnTo>
                  <a:pt x="77361" y="109865"/>
                </a:lnTo>
                <a:cubicBezTo>
                  <a:pt x="78730" y="111234"/>
                  <a:pt x="79921" y="112722"/>
                  <a:pt x="80992" y="114300"/>
                </a:cubicBezTo>
                <a:lnTo>
                  <a:pt x="33338" y="11430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40150" lIns="40150" spcFirstLastPara="1" rIns="40150" wrap="square" tIns="40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1421825" y="999250"/>
            <a:ext cx="14289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819275" y="982177"/>
            <a:ext cx="1944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E82C35"/>
                </a:solidFill>
              </a:rPr>
              <a:t>The Crisis: 2008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174675" y="1000125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1CAC95"/>
                </a:solidFill>
              </a:rPr>
              <a:t>What They Did</a:t>
            </a:r>
            <a:endParaRPr b="1" sz="1150">
              <a:solidFill>
                <a:srgbClr val="1CAC95"/>
              </a:solidFill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848925" y="1018150"/>
            <a:ext cx="325755" cy="325755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4943935" y="1113160"/>
            <a:ext cx="135731" cy="135731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4945125" y="13967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4945125" y="1567314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4945125" y="1722927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4945125" y="18785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4945125" y="20341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394250" y="271030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They faced an existential choice: </a:t>
            </a:r>
            <a:r>
              <a:rPr b="1" lang="en-GB" sz="750">
                <a:solidFill>
                  <a:srgbClr val="E82C35"/>
                </a:solidFill>
              </a:rPr>
              <a:t>transform or die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334688" y="4358850"/>
            <a:ext cx="200025" cy="228600"/>
          </a:xfrm>
          <a:custGeom>
            <a:rect b="b" l="l" r="r" t="t"/>
            <a:pathLst>
              <a:path extrusionOk="0" h="228600" w="200025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172175" y="24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Tools That Power DevOps Teams</a:t>
            </a:r>
            <a:endParaRPr b="1" sz="2050">
              <a:solidFill>
                <a:srgbClr val="EBEBEB"/>
              </a:solidFill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179725" y="787350"/>
            <a:ext cx="2678700" cy="1891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Single code source of all code. Pull Requests = peer review + built-in collaboration.</a:t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504AED"/>
              </a:solidFill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3024725" y="2896475"/>
            <a:ext cx="2678700" cy="18348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Uninterrupted environments across developer laptop to production. Gets rid of: works on my machine.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F55D14"/>
              </a:solidFill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179725" y="2839875"/>
            <a:ext cx="2678700" cy="1891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Auto build → test → deploy on every commit. No manual inter-team handovers.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533F5"/>
              </a:solidFill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3028051" y="787350"/>
            <a:ext cx="2678700" cy="1891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.</a:t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Real-time + async messaging. Bots pipe deployment alerts, test failures, and incident notifications directly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CAC95"/>
              </a:solidFill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913750" y="787350"/>
            <a:ext cx="2778900" cy="1891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Sprint boards and Kanban. Same priorities and work-in-progress limits are visible to Dev, Ops and QA.</a:t>
            </a:r>
            <a:endParaRPr sz="6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2F69F3"/>
              </a:solidFill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5913750" y="2896475"/>
            <a:ext cx="2778900" cy="18348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System health in real-time that can be seen by anyone. Alerts are sent straight to collective team channels.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82C35"/>
              </a:solidFill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342900" y="9144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04AED"/>
                </a:solidFill>
              </a:rPr>
              <a:t>Source Control</a:t>
            </a:r>
            <a:endParaRPr b="1" sz="100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GitHub / GitLab / Bitbucket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3224400" y="9144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C95"/>
                </a:solidFill>
              </a:rPr>
              <a:t>Communication</a:t>
            </a:r>
            <a:endParaRPr b="1" sz="10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Slack / Microsoft Teams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6070025" y="9144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F69F3"/>
                </a:solidFill>
              </a:rPr>
              <a:t>Project Tracking</a:t>
            </a:r>
            <a:endParaRPr b="1" sz="100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Jira / Linear / Azure Boards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070025" y="30220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82C35"/>
                </a:solidFill>
              </a:rPr>
              <a:t>Monitoring &amp; Alerting</a:t>
            </a:r>
            <a:endParaRPr b="1" sz="100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Grafana / Datadog / PagerDuty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3224400" y="30220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55D14"/>
                </a:solidFill>
              </a:rPr>
              <a:t>Containerization</a:t>
            </a:r>
            <a:endParaRPr b="1" sz="100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Docker / Kubernetes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342900" y="30220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533F5"/>
                </a:solidFill>
              </a:rPr>
              <a:t>CI/CD Pipeline</a:t>
            </a:r>
            <a:endParaRPr b="1" sz="10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Jenkins / GitHub Actions / CircleCI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>
            <p:ph type="title"/>
          </p:nvPr>
        </p:nvSpPr>
        <p:spPr>
          <a:xfrm>
            <a:off x="172175" y="277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Measuring DevOps Team Performance — The DORA Framework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 txBox="1"/>
          <p:nvPr>
            <p:ph idx="1" type="body"/>
          </p:nvPr>
        </p:nvSpPr>
        <p:spPr>
          <a:xfrm>
            <a:off x="311700" y="4910975"/>
            <a:ext cx="8520600" cy="1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136925" y="744575"/>
            <a:ext cx="8520600" cy="33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7C7C7C"/>
                </a:solidFill>
              </a:rPr>
              <a:t>DevOps Research &amp; Assessment (DORA) defines 4 metrics that reveal how well a team truly collaborates. </a:t>
            </a:r>
            <a:r>
              <a:rPr b="1" lang="en-GB" sz="900">
                <a:solidFill>
                  <a:srgbClr val="504AED"/>
                </a:solidFill>
              </a:rPr>
              <a:t>Elite teams score high on all four.</a:t>
            </a:r>
            <a:endParaRPr b="1" sz="900">
              <a:solidFill>
                <a:srgbClr val="504AED"/>
              </a:solidFill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228000" y="1263250"/>
            <a:ext cx="3832200" cy="1730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504AED"/>
                </a:solidFill>
              </a:rPr>
              <a:t>           Deployment Frequency		</a:t>
            </a:r>
            <a:r>
              <a:rPr b="1" lang="en-GB" sz="1350">
                <a:solidFill>
                  <a:srgbClr val="504AED"/>
                </a:solidFill>
              </a:rPr>
              <a:t>Multiple</a:t>
            </a:r>
            <a:endParaRPr b="1" sz="1350">
              <a:solidFill>
                <a:srgbClr val="504AED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          times/day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How often does the team successfully release to production? High frequency = tight collaboration + automation.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504AED"/>
              </a:solidFill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4842875" y="3178113"/>
            <a:ext cx="3867600" cy="1730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F55D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504AED"/>
                </a:solidFill>
              </a:rPr>
              <a:t>            </a:t>
            </a:r>
            <a:r>
              <a:rPr b="1" lang="en-GB" sz="1150">
                <a:solidFill>
                  <a:srgbClr val="F55D14"/>
                </a:solidFill>
              </a:rPr>
              <a:t>Mean Time to Restore 			</a:t>
            </a:r>
            <a:r>
              <a:rPr b="1" lang="en-GB" sz="1350">
                <a:solidFill>
                  <a:srgbClr val="F55D14"/>
                </a:solidFill>
              </a:rPr>
              <a:t>&lt; 1</a:t>
            </a:r>
            <a:endParaRPr b="1" sz="1350">
              <a:solidFill>
                <a:srgbClr val="F55D14"/>
              </a:solidFill>
            </a:endParaRPr>
          </a:p>
          <a:p>
            <a:pPr indent="4572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   hour</a:t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How fast does the team recover when production breaks? Fast MTTR = tight Dev + Ops + SRE collaboration.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F55D14"/>
              </a:solidFill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228000" y="3178125"/>
            <a:ext cx="3867600" cy="1730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504AED"/>
                </a:solidFill>
              </a:rPr>
              <a:t>           </a:t>
            </a:r>
            <a:r>
              <a:rPr b="1" lang="en-GB" sz="1150">
                <a:solidFill>
                  <a:srgbClr val="9533F5"/>
                </a:solidFill>
              </a:rPr>
              <a:t>Change Failure Rate 		    </a:t>
            </a:r>
            <a:r>
              <a:rPr b="1" lang="en-GB" sz="1350">
                <a:solidFill>
                  <a:srgbClr val="9533F5"/>
                </a:solidFill>
              </a:rPr>
              <a:t>0–15%</a:t>
            </a:r>
            <a:endParaRPr b="1" sz="13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Percentage of deployments that cause incidents. Low rate = good testing collaboration between Dev and QA.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9533F5"/>
              </a:solidFill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4860575" y="1263250"/>
            <a:ext cx="3832200" cy="17301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50">
                <a:solidFill>
                  <a:srgbClr val="504AED"/>
                </a:solidFill>
              </a:rPr>
              <a:t>           </a:t>
            </a:r>
            <a:r>
              <a:rPr b="1" lang="en-GB" sz="1150">
                <a:solidFill>
                  <a:srgbClr val="1CAC95"/>
                </a:solidFill>
              </a:rPr>
              <a:t>Lead Time for Changes 			</a:t>
            </a:r>
            <a:r>
              <a:rPr b="1" lang="en-GB" sz="1350">
                <a:solidFill>
                  <a:srgbClr val="1CAC95"/>
                </a:solidFill>
              </a:rPr>
              <a:t>&lt; 1</a:t>
            </a:r>
            <a:endParaRPr sz="700">
              <a:solidFill>
                <a:srgbClr val="7C7C7C"/>
              </a:solidFill>
            </a:endParaRPr>
          </a:p>
          <a:p>
            <a:pPr indent="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7C7C7C"/>
                </a:solidFill>
              </a:rPr>
              <a:t>                    Hour</a:t>
            </a:r>
            <a:endParaRPr sz="700">
              <a:solidFill>
                <a:srgbClr val="7C7C7C"/>
              </a:solidFill>
            </a:endParaRPr>
          </a:p>
          <a:p>
            <a:pPr indent="457200" lvl="0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457200" lvl="0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Time from code commit to running in production. Short lead time = no bottlenecks between Dev and Ops.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50">
              <a:solidFill>
                <a:srgbClr val="1CAC95"/>
              </a:solidFill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386250" y="3501750"/>
            <a:ext cx="333756" cy="333756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>
            <a:noFill/>
          </a:ln>
        </p:spPr>
        <p:txBody>
          <a:bodyPr anchorCtr="0" anchor="ctr" bIns="66775" lIns="66775" spcFirstLastPara="1" rIns="66775" wrap="square" tIns="6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469725" y="3585225"/>
            <a:ext cx="166878" cy="16687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A855F7"/>
          </a:solidFill>
          <a:ln>
            <a:noFill/>
          </a:ln>
        </p:spPr>
        <p:txBody>
          <a:bodyPr anchorCtr="0" anchor="ctr" bIns="66775" lIns="66775" spcFirstLastPara="1" rIns="66775" wrap="square" tIns="6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386288" y="1425275"/>
            <a:ext cx="333756" cy="333756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  <p:txBody>
          <a:bodyPr anchorCtr="0" anchor="ctr" bIns="66825" lIns="66825" spcFirstLastPara="1" rIns="66825" wrap="square" tIns="6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469843" y="1508830"/>
            <a:ext cx="166878" cy="166878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366F1"/>
          </a:solidFill>
          <a:ln>
            <a:noFill/>
          </a:ln>
        </p:spPr>
        <p:txBody>
          <a:bodyPr anchorCtr="0" anchor="ctr" bIns="66825" lIns="66825" spcFirstLastPara="1" rIns="66825" wrap="square" tIns="66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2250" y="3354350"/>
            <a:ext cx="333756" cy="333756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95257" y="3437786"/>
            <a:ext cx="187738" cy="166878"/>
          </a:xfrm>
          <a:custGeom>
            <a:rect b="b" l="l" r="r" t="t"/>
            <a:pathLst>
              <a:path extrusionOk="0" h="228600" w="257175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97316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2250" y="1363671"/>
            <a:ext cx="333756" cy="333756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4B8A6">
              <a:alpha val="20000"/>
            </a:srgbClr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105688" y="1447109"/>
            <a:ext cx="166878" cy="166878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14B8A6"/>
          </a:solidFill>
          <a:ln>
            <a:noFill/>
          </a:ln>
        </p:spPr>
        <p:txBody>
          <a:bodyPr anchorCtr="0" anchor="ctr" bIns="66750" lIns="66750" spcFirstLastPara="1" rIns="66750" wrap="square" tIns="6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202200" y="17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Questions &amp; Answers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311700" y="5069100"/>
            <a:ext cx="8520600" cy="1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311700" y="684675"/>
            <a:ext cx="8411100" cy="898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C95"/>
                </a:solidFill>
              </a:rPr>
              <a:t>"What is the biggest cultural challenge in adopting DevOps collaboration?"</a:t>
            </a:r>
            <a:endParaRPr b="1" sz="10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chemeClr val="lt1"/>
                </a:solidFill>
              </a:rPr>
              <a:t>Breaking the blame culture</a:t>
            </a:r>
            <a:r>
              <a:rPr lang="en-GB" sz="750">
                <a:solidFill>
                  <a:srgbClr val="8F8F8F"/>
                </a:solidFill>
              </a:rPr>
              <a:t>. The traditional organizations attribute individual blame to failures of systems. DevOps subverts this by using blameless post-mortems - what is being fixed is the process, not the individual. Google and Netflix were the first to take this approach and attribute it to their high degree of reliability.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CAC95"/>
              </a:solidFill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311700" y="1726625"/>
            <a:ext cx="8411100" cy="898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F69F3"/>
                </a:solidFill>
              </a:rPr>
              <a:t>"How is a DevOps team different from a traditional IT team?"</a:t>
            </a:r>
            <a:endParaRPr b="1" sz="100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Traditional teams are </a:t>
            </a:r>
            <a:r>
              <a:rPr lang="en-GB" sz="750">
                <a:solidFill>
                  <a:schemeClr val="lt1"/>
                </a:solidFill>
              </a:rPr>
              <a:t>functionally siloed Dev</a:t>
            </a:r>
            <a:r>
              <a:rPr lang="en-GB" sz="750">
                <a:solidFill>
                  <a:srgbClr val="8F8F8F"/>
                </a:solidFill>
              </a:rPr>
              <a:t> writes the code, Ops deploys the code, QA tests the code, which is individually and sequentially siloed. A DevOps team is cross-functional - the same individuals plan, build, test, deploy and monitor. The handoff is done away with.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2F69F3"/>
              </a:solidFill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311700" y="2799275"/>
            <a:ext cx="8411100" cy="8985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533F5"/>
                </a:solidFill>
              </a:rPr>
              <a:t>"What does 'You build it, you run it' mean in practice?"</a:t>
            </a:r>
            <a:endParaRPr b="1" sz="10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8F8F8F"/>
                </a:solidFill>
              </a:rPr>
              <a:t>Minted at </a:t>
            </a:r>
            <a:r>
              <a:rPr lang="en-GB" sz="750">
                <a:solidFill>
                  <a:schemeClr val="lt1"/>
                </a:solidFill>
              </a:rPr>
              <a:t>Amazon</a:t>
            </a:r>
            <a:r>
              <a:rPr lang="en-GB" sz="750">
                <a:solidFill>
                  <a:srgbClr val="8F8F8F"/>
                </a:solidFill>
              </a:rPr>
              <a:t> - the developer team that develops a service also assumes on-call responsibility of it in production. This principle alone changed the engineering culture of Amazon since developers now had a stake in the game. In case their code went dead at 3am, they were provided with the pager.</a:t>
            </a:r>
            <a:endParaRPr sz="7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9533F5"/>
              </a:solidFill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311700" y="3874200"/>
            <a:ext cx="8411100" cy="9354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F56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55D14"/>
                </a:solidFill>
              </a:rPr>
              <a:t>"Can DevOps work without tools like Slack or Jira?"</a:t>
            </a:r>
            <a:endParaRPr b="1" sz="100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55D1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chemeClr val="lt1"/>
                </a:solidFill>
              </a:rPr>
              <a:t>Yes</a:t>
            </a:r>
            <a:r>
              <a:rPr lang="en-GB" sz="750">
                <a:solidFill>
                  <a:srgbClr val="8F8F8F"/>
                </a:solidFill>
              </a:rPr>
              <a:t> - DevOps is more of a culture, than a toolset. The accelerators are not the thing but the tools. A group of people that has email and whiteboard can be practicing DevOps in case they share ownership, transparency and feedback mentality. Culturally, tools do not alter anything.</a:t>
            </a:r>
            <a:endParaRPr sz="350">
              <a:solidFill>
                <a:srgbClr val="8F8F8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F55D1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 txBox="1"/>
          <p:nvPr>
            <p:ph type="title"/>
          </p:nvPr>
        </p:nvSpPr>
        <p:spPr>
          <a:xfrm>
            <a:off x="209400" y="286900"/>
            <a:ext cx="85206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Individual Contributions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68475" y="813025"/>
            <a:ext cx="4503600" cy="2867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504AED"/>
                </a:solidFill>
              </a:rPr>
              <a:t>Daksh Mehrotra</a:t>
            </a:r>
            <a:endParaRPr b="1" sz="13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Presenter &amp; Researcher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Research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Netflix case study, DORA metrics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Coordination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Overall design coordination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504AED"/>
              </a:solidFill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4640400" y="813025"/>
            <a:ext cx="4444800" cy="2867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50">
                <a:solidFill>
                  <a:srgbClr val="1CAC95"/>
                </a:solidFill>
              </a:rPr>
              <a:t>Nakul Yadav</a:t>
            </a:r>
            <a:endParaRPr b="1" sz="13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Presenter &amp; Researcher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Research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Team models, toolchain analysis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EBEBEB"/>
                </a:solidFill>
              </a:rPr>
              <a:t>Q&amp;A</a:t>
            </a:r>
            <a:endParaRPr b="1" sz="750">
              <a:solidFill>
                <a:srgbClr val="EBEBE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Q&amp;A preparation and rehearsal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1CAC95"/>
              </a:solidFill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400051" y="4028200"/>
            <a:ext cx="8336947" cy="773787"/>
          </a:xfrm>
          <a:custGeom>
            <a:rect b="b" l="l" r="r" t="t"/>
            <a:pathLst>
              <a:path extrusionOk="0" h="923925" w="1142047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809626"/>
                </a:lnTo>
                <a:cubicBezTo>
                  <a:pt x="11420475" y="872752"/>
                  <a:pt x="11369302" y="923925"/>
                  <a:pt x="113061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20000"/>
                </a:srgbClr>
              </a:gs>
              <a:gs pos="50000">
                <a:srgbClr val="6366F1">
                  <a:alpha val="10196"/>
                </a:srgbClr>
              </a:gs>
              <a:gs pos="100000">
                <a:srgbClr val="14B8A6">
                  <a:alpha val="20000"/>
                </a:srgbClr>
              </a:gs>
            </a:gsLst>
            <a:lin ang="0" scaled="0"/>
          </a:gradFill>
          <a:ln cap="flat" cmpd="sng" w="10325">
            <a:solidFill>
              <a:srgbClr val="6366F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250" lIns="74250" spcFirstLastPara="1" rIns="74250" wrap="square" tIns="7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/>
          </a:p>
        </p:txBody>
      </p:sp>
      <p:sp>
        <p:nvSpPr>
          <p:cNvPr id="359" name="Google Shape;359;p25"/>
          <p:cNvSpPr/>
          <p:nvPr/>
        </p:nvSpPr>
        <p:spPr>
          <a:xfrm>
            <a:off x="1804904" y="4317591"/>
            <a:ext cx="5198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1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Equal contribution — </a:t>
            </a:r>
            <a:r>
              <a:rPr b="1" i="0" lang="en-GB" sz="1218" u="none" cap="none" strike="noStrike">
                <a:solidFill>
                  <a:srgbClr val="6366F1"/>
                </a:solidFill>
                <a:latin typeface="Liter"/>
                <a:ea typeface="Liter"/>
                <a:cs typeface="Liter"/>
                <a:sym typeface="Liter"/>
              </a:rPr>
              <a:t>50/50 split</a:t>
            </a:r>
            <a:r>
              <a:rPr b="1" i="0" lang="en-GB" sz="1218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 across research, content, and delivery.</a:t>
            </a:r>
            <a:endParaRPr b="0" i="0" sz="1299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/>
          <p:nvPr>
            <p:ph type="title"/>
          </p:nvPr>
        </p:nvSpPr>
        <p:spPr>
          <a:xfrm>
            <a:off x="209375" y="259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References &amp; Sources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232625" y="692550"/>
            <a:ext cx="8520600" cy="67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BEB"/>
                </a:solidFill>
              </a:rPr>
              <a:t>DORA State of DevOps Report 2023 — Google Cloud 								</a:t>
            </a:r>
            <a:r>
              <a:rPr lang="en-GB" sz="750">
                <a:solidFill>
                  <a:srgbClr val="504AED"/>
                </a:solidFill>
              </a:rPr>
              <a:t>cloud.google.com/devops/state-of-devops</a:t>
            </a:r>
            <a:endParaRPr sz="750">
              <a:solidFill>
                <a:srgbClr val="504AE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Primary industry benchmark — peer-reviewed, data from 36,000+ professionals. Extremely authoritative. Used for all performance statistics in this presentation.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EBEBEB"/>
              </a:solidFill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255875" y="1510175"/>
            <a:ext cx="8520600" cy="720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BEB"/>
                </a:solidFill>
              </a:rPr>
              <a:t>Team Topologies — Skelton &amp; Pais (2019)												</a:t>
            </a:r>
            <a:r>
              <a:rPr lang="en-GB" sz="750">
                <a:solidFill>
                  <a:srgbClr val="1CAC95"/>
                </a:solidFill>
              </a:rPr>
              <a:t>teamtopologies.com</a:t>
            </a:r>
            <a:endParaRPr sz="750">
              <a:solidFill>
                <a:srgbClr val="1CAC9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The definitive book on DevOps team structures. Introduces cognitive load as a design constraint for teams — a genuinely novel and practical insight. Highly recommended.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EBEBEB"/>
              </a:solidFill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232625" y="2374000"/>
            <a:ext cx="8520600" cy="67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BEB"/>
                </a:solidFill>
              </a:rPr>
              <a:t>Netflix Tech Blog — "Full Cycle Developers at Netflix"										  </a:t>
            </a:r>
            <a:r>
              <a:rPr lang="en-GB" sz="750">
                <a:solidFill>
                  <a:srgbClr val="E82C35"/>
                </a:solidFill>
              </a:rPr>
              <a:t>netflixtechblog.com</a:t>
            </a:r>
            <a:endParaRPr sz="750">
              <a:solidFill>
                <a:srgbClr val="E82C3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First-hand engineering account of how Netflix built autonomous teams. Excellent primary source — real specifics, not theory.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EBEBEB"/>
              </a:solidFill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232625" y="3201275"/>
            <a:ext cx="8520600" cy="720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EBEBEB"/>
                </a:solidFill>
              </a:rPr>
              <a:t>The DevOps Handbook — Kim, Humble, Debois, Willis								      </a:t>
            </a:r>
            <a:r>
              <a:rPr lang="en-GB" sz="750">
                <a:solidFill>
                  <a:srgbClr val="9533F5"/>
                </a:solidFill>
              </a:rPr>
              <a:t>itrevolution.com/the-devops-handbook</a:t>
            </a:r>
            <a:endParaRPr sz="750">
              <a:solidFill>
                <a:srgbClr val="9533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50">
                <a:solidFill>
                  <a:srgbClr val="7C7C7C"/>
                </a:solidFill>
              </a:rPr>
              <a:t>Foundational text. Covers the "Three Ways" framework (Flow, Feedback, Continual Learning). Good conceptual depth with case studies. Slightly prescriptive but widely respected.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232625" y="4046825"/>
            <a:ext cx="8544000" cy="720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BEB"/>
                </a:solidFill>
              </a:rPr>
              <a:t>Atlassian DevOps Guide														</a:t>
            </a:r>
            <a:r>
              <a:rPr lang="en-GB" sz="750">
                <a:solidFill>
                  <a:srgbClr val="2F69F3"/>
                </a:solidFill>
              </a:rPr>
              <a:t>atlassian.com/devops</a:t>
            </a:r>
            <a:endParaRPr sz="7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7C7C7C"/>
                </a:solidFill>
              </a:rPr>
              <a:t>Accessible introductory resource. Vendor-written so carries some bias toward Atlassian tools, but good for concept overviews. Best used for cross-referencing, not as a standalone citation.</a:t>
            </a:r>
            <a:endParaRPr sz="750">
              <a:solidFill>
                <a:srgbClr val="7C7C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EBEBE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91919">
                  <a:alpha val="94901"/>
                </a:srgbClr>
              </a:gs>
              <a:gs pos="50000">
                <a:srgbClr val="191919">
                  <a:alpha val="90196"/>
                </a:srgbClr>
              </a:gs>
              <a:gs pos="100000">
                <a:srgbClr val="6366F1">
                  <a:alpha val="30196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375" name="Google Shape;375;p27"/>
          <p:cNvSpPr txBox="1"/>
          <p:nvPr>
            <p:ph type="title"/>
          </p:nvPr>
        </p:nvSpPr>
        <p:spPr>
          <a:xfrm>
            <a:off x="175900" y="27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GB" sz="2050">
                <a:solidFill>
                  <a:srgbClr val="EBEBEB"/>
                </a:solidFill>
              </a:rPr>
              <a:t>Key Takeaways</a:t>
            </a:r>
            <a:endParaRPr b="1" sz="2050">
              <a:solidFill>
                <a:srgbClr val="EBEBE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117600" y="869125"/>
            <a:ext cx="1674900" cy="2489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515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50">
                <a:solidFill>
                  <a:schemeClr val="lt2"/>
                </a:solidFill>
              </a:rPr>
              <a:t>DevOps is not a technology, but a </a:t>
            </a:r>
            <a:r>
              <a:rPr b="1" lang="en-GB" sz="850">
                <a:solidFill>
                  <a:srgbClr val="6366F1"/>
                </a:solidFill>
              </a:rPr>
              <a:t>culture</a:t>
            </a:r>
            <a:r>
              <a:rPr lang="en-GB" sz="850">
                <a:solidFill>
                  <a:schemeClr val="lt2"/>
                </a:solidFill>
              </a:rPr>
              <a:t>.</a:t>
            </a:r>
            <a:endParaRPr sz="450">
              <a:solidFill>
                <a:schemeClr val="lt2"/>
              </a:solidFill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7396800" y="869125"/>
            <a:ext cx="1674900" cy="2489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9533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50">
                <a:solidFill>
                  <a:schemeClr val="lt2"/>
                </a:solidFill>
              </a:rPr>
              <a:t>DORA metrics provide any team with a </a:t>
            </a:r>
            <a:r>
              <a:rPr b="1" lang="en-GB" sz="850">
                <a:solidFill>
                  <a:srgbClr val="9533F5"/>
                </a:solidFill>
              </a:rPr>
              <a:t>data-based perspective</a:t>
            </a:r>
            <a:r>
              <a:rPr lang="en-GB" sz="850">
                <a:solidFill>
                  <a:schemeClr val="lt2"/>
                </a:solidFill>
              </a:rPr>
              <a:t> to assess collaboration maturity.</a:t>
            </a:r>
            <a:endParaRPr sz="450">
              <a:solidFill>
                <a:schemeClr val="lt2"/>
              </a:solidFill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1928400" y="869125"/>
            <a:ext cx="1652400" cy="2489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1CAC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rgbClr val="1CAC95"/>
                </a:solidFill>
              </a:rPr>
              <a:t>Cross</a:t>
            </a:r>
            <a:r>
              <a:rPr b="1" lang="en-GB" sz="850">
                <a:solidFill>
                  <a:srgbClr val="1CAC95"/>
                </a:solidFill>
              </a:rPr>
              <a:t>-functional teams</a:t>
            </a:r>
            <a:r>
              <a:rPr lang="en-GB" sz="850">
                <a:solidFill>
                  <a:schemeClr val="dk1"/>
                </a:solidFill>
              </a:rPr>
              <a:t> </a:t>
            </a:r>
            <a:r>
              <a:rPr lang="en-GB" sz="850">
                <a:solidFill>
                  <a:schemeClr val="lt2"/>
                </a:solidFill>
              </a:rPr>
              <a:t>shatter the Dev/Ops barrier forever.</a:t>
            </a:r>
            <a:endParaRPr sz="450">
              <a:solidFill>
                <a:schemeClr val="lt2"/>
              </a:solidFill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3757200" y="869125"/>
            <a:ext cx="1674900" cy="2489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2F6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2F69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rgbClr val="2F69F3"/>
                </a:solidFill>
              </a:rPr>
              <a:t>Technology is important</a:t>
            </a:r>
            <a:r>
              <a:rPr b="1" lang="en-GB" sz="850">
                <a:solidFill>
                  <a:schemeClr val="lt2"/>
                </a:solidFill>
              </a:rPr>
              <a:t> </a:t>
            </a:r>
            <a:r>
              <a:rPr lang="en-GB" sz="850">
                <a:solidFill>
                  <a:schemeClr val="lt2"/>
                </a:solidFill>
              </a:rPr>
              <a:t>but practices such as standups, post-mortems, and ChatOps are equally important.</a:t>
            </a:r>
            <a:endParaRPr b="1" sz="4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rgbClr val="EBEBEB"/>
              </a:solidFill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5608500" y="869125"/>
            <a:ext cx="1652400" cy="2489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E82C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50">
                <a:solidFill>
                  <a:schemeClr val="lt2"/>
                </a:solidFill>
              </a:rPr>
              <a:t>Netflix demonstrates it: </a:t>
            </a:r>
            <a:r>
              <a:rPr b="1" lang="en-GB" sz="850">
                <a:solidFill>
                  <a:srgbClr val="E82C35"/>
                </a:solidFill>
              </a:rPr>
              <a:t>self-organized groups + shared ownership</a:t>
            </a:r>
            <a:r>
              <a:rPr lang="en-GB" sz="850">
                <a:solidFill>
                  <a:schemeClr val="lt2"/>
                </a:solidFill>
              </a:rPr>
              <a:t> = 500 deploys a day.</a:t>
            </a:r>
            <a:endParaRPr sz="450">
              <a:solidFill>
                <a:schemeClr val="lt2"/>
              </a:solidFill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1211050" y="3835075"/>
            <a:ext cx="6450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500" u="none" cap="none" strike="noStrike">
                <a:solidFill>
                  <a:srgbClr val="EFEFEF"/>
                </a:solidFill>
                <a:latin typeface="Liter"/>
                <a:ea typeface="Liter"/>
                <a:cs typeface="Liter"/>
                <a:sym typeface="Liter"/>
              </a:rPr>
              <a:t>Thank You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